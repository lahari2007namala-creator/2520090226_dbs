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81" r:id="rId32"/>
    <p:sldId id="280" r:id="rId31"/>
    <p:sldId id="279" r:id="rId30"/>
    <p:sldId id="278" r:id="rId29"/>
    <p:sldId id="277" r:id="rId28"/>
    <p:sldId id="276" r:id="rId27"/>
    <p:sldId id="275" r:id="rId26"/>
    <p:sldId id="274" r:id="rId25"/>
    <p:sldId id="273" r:id="rId24"/>
    <p:sldId id="272" r:id="rId23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20.xml"/><Relationship Id="rId16" Type="http://schemas.openxmlformats.org/officeDocument/2006/relationships/slide" Target="slides/slide19.xml"/><Relationship Id="rId17" Type="http://schemas.openxmlformats.org/officeDocument/2006/relationships/slide" Target="slides/slide18.xml"/><Relationship Id="rId18" Type="http://schemas.openxmlformats.org/officeDocument/2006/relationships/slide" Target="slides/slide17.xml"/><Relationship Id="rId19" Type="http://schemas.openxmlformats.org/officeDocument/2006/relationships/slide" Target="slides/slide16.xml"/><Relationship Id="rId20" Type="http://schemas.openxmlformats.org/officeDocument/2006/relationships/slide" Target="slides/slide15.xml"/><Relationship Id="rId21" Type="http://schemas.openxmlformats.org/officeDocument/2006/relationships/slide" Target="slides/slide14.xml"/><Relationship Id="rId22" Type="http://schemas.openxmlformats.org/officeDocument/2006/relationships/slide" Target="slides/slide13.xml"/><Relationship Id="rId23" Type="http://schemas.openxmlformats.org/officeDocument/2006/relationships/slide" Target="slides/slide12.xml"/><Relationship Id="rId24" Type="http://schemas.openxmlformats.org/officeDocument/2006/relationships/slide" Target="slides/slide11.xml"/><Relationship Id="rId25" Type="http://schemas.openxmlformats.org/officeDocument/2006/relationships/slide" Target="slides/slide10.xml"/><Relationship Id="rId26" Type="http://schemas.openxmlformats.org/officeDocument/2006/relationships/slide" Target="slides/slide9.xml"/><Relationship Id="rId27" Type="http://schemas.openxmlformats.org/officeDocument/2006/relationships/slide" Target="slides/slide8.xml"/><Relationship Id="rId28" Type="http://schemas.openxmlformats.org/officeDocument/2006/relationships/slide" Target="slides/slide7.xml"/><Relationship Id="rId29" Type="http://schemas.openxmlformats.org/officeDocument/2006/relationships/slide" Target="slides/slide6.xml"/><Relationship Id="rId30" Type="http://schemas.openxmlformats.org/officeDocument/2006/relationships/slide" Target="slides/slide5.xml"/><Relationship Id="rId31" Type="http://schemas.openxmlformats.org/officeDocument/2006/relationships/slide" Target="slides/slide4.xml"/><Relationship Id="rId32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no simple way to track solar data; manual tracking is hard. Motivation: renewable energy and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a database-based web system for solar data. Then read the five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types of existing systems were studied. None combines SQL storage, calculations, alerts, and reports simply.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DBMS-Based Full Stack Development Methodology in eight steps. Green boxes are the core database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Rule-based algorithm. Input readings, store in SQL, calculate four values, then apply the 60% alert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uses the frontend (port 5500). The frontend calls FastAPI (port 8000), which runs SQL on SQLite. Swagger at /docs documents the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frontend at 127.0.0.1:5500/index.html. The backend runs at 127.0.0.1:8000 and Swagger docs at 127.0.0.1:8000/docs.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tables. Each has a primary key; child tables link to parents through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come from four forms. The sample dataset has 2 users, 3 panels, and 42 daily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and panels are the base data. Every panel belongs to one user through the user_id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enters generated and consumed energy. The backend calculates four values and stores them in energy_readings.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and reports use SQL aggregate queries with joins. Alerts use the 60% rule; an alert can lead to a maintenance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Totals from the Reports page, 30 Aug – 28 Sept 2026: 42 readings from 3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check compares system output with a manual calculation or the stored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 page shows today's summary and panel cards. Dashboard page shows the last 14 days, the algorithm steps, and the generated vs consumed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systems need hand-written records and calculations. Our system does it automatically from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how each challenge was solved. Right: planned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course outcome is covered by a part of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what the project achieved, then mention the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7.png"/><Relationship Id="rId7" Type="http://schemas.openxmlformats.org/officeDocument/2006/relationships/image" Target="../media/image25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48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77316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15721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54126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 and 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6035040" cy="4572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801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Abstract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74519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32688" y="204825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2136038"/>
            <a:ext cx="190195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08176" y="1874519"/>
            <a:ext cx="5349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002060"/>
                </a:solidFill>
                <a:latin typeface="Calibri"/>
              </a:rPr>
              <a:t>A database-based web application to manage and monitor solar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697479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2871215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958998"/>
            <a:ext cx="190195" cy="1901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08176" y="2697479"/>
            <a:ext cx="5349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002060"/>
                </a:solidFill>
                <a:latin typeface="Calibri"/>
              </a:rPr>
              <a:t>Stores solar panel details and daily energy readings in a SQL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520439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694176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3781958"/>
            <a:ext cx="190195" cy="1901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08176" y="3520439"/>
            <a:ext cx="5349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002060"/>
                </a:solidFill>
                <a:latin typeface="Calibri"/>
              </a:rPr>
              <a:t>Calculates energy balance, efficiency, and savings automatically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343400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32688" y="451713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hartB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4604918"/>
            <a:ext cx="190195" cy="1901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8176" y="4343400"/>
            <a:ext cx="5349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002060"/>
                </a:solidFill>
                <a:latin typeface="Calibri"/>
              </a:rPr>
              <a:t>Generates low-efficiency alerts and shows dashboard and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1280160"/>
            <a:ext cx="416052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60919" y="1280160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Objectives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1874519"/>
            <a:ext cx="4160520" cy="658368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296912" y="202082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1874519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Store solar panel details in a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642615"/>
            <a:ext cx="416052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296912" y="27889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642615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Record daily generated and consumed energy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3410711"/>
            <a:ext cx="4160520" cy="658368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296912" y="3557015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410711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Calculate balance, efficiency, and savings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4178808"/>
            <a:ext cx="4160520" cy="65836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296912" y="432511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7880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Generate alerts when efficiency is 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4946904"/>
            <a:ext cx="4160520" cy="658368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296912" y="509320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946904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Display dashboard and reports using SQL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Motivation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10497312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1481328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Exclamation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902" y="1617390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1280160"/>
            <a:ext cx="94183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Solar energy users do not have a simple system to track generated energy, consumed energy, efficiency, savings, and low-performance alerts. Manual tracking is difficult and leads to poor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68880"/>
            <a:ext cx="5074920" cy="4572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24128" y="24688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Problems Faced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017520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2688" y="3136391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3224174"/>
            <a:ext cx="190195" cy="1901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08176" y="301752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No single place to store solar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730752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2688" y="384962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Keybo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3937406"/>
            <a:ext cx="190195" cy="1901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08176" y="373075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Manual records cause errors and delays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443983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32688" y="456285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4650638"/>
            <a:ext cx="190195" cy="1901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8176" y="4443983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Low panel performance goes unnoticed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157216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32688" y="527608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70" y="5363870"/>
            <a:ext cx="190195" cy="1901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08176" y="515721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No clear view of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468880"/>
            <a:ext cx="507492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46520" y="24688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017520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55079" y="3136391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SolarPane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862" y="3224174"/>
            <a:ext cx="190195" cy="19019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0568" y="301752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Promotes renewable energy usage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30752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55079" y="384962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hartLin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2862" y="3937406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0568" y="373075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Helps users understand solar performance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443983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55079" y="456285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2862" y="4650638"/>
            <a:ext cx="190195" cy="19019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30568" y="4443983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Reduces energy wastage and supports cost saving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157216"/>
            <a:ext cx="507492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355079" y="527608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aSeedling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862" y="5363870"/>
            <a:ext cx="190195" cy="19019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30568" y="515721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Encourages sustainable energy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and Research Gap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2606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3566160"/>
                <a:gridCol w="363931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Existing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Main Features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Solar Monitoring Dashboards [1]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Show generation and usage graphs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 SQL reports or DBMS concepts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IoT-Based Solar Monitoring [2]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Real-time data from sensors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Needs extra hardware and cost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Energy Management Systems [3]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Track household electricity usage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 solar efficiency or savings focus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Database Reporting Systems [4]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Store data and create SQL 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Not designed for solar data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" y="4251960"/>
            <a:ext cx="10497312" cy="1691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51560" y="47091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PuzzlePiece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97" y="4895697"/>
            <a:ext cx="404164" cy="404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57400" y="431596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727448"/>
            <a:ext cx="90982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Existing systems do not provide one simple DBMS-based solution that combines structured panel storage, daily reading storage, efficiency and savings calculation, low-efficiency alerts, and SQL reports.</a:t>
            </a:r>
          </a:p>
          <a:p>
            <a:pPr algn="l"/>
            <a:r>
              <a:rPr sz="1500" b="1">
                <a:solidFill>
                  <a:srgbClr val="E2F0D9"/>
                </a:solidFill>
                <a:latin typeface="Calibri"/>
              </a:rPr>
              <a:t>Our project fills this gap with a database-driven web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1_methodology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10497312" cy="43360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Algorithm: Monitoring and Alert Generation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2_algorithm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829" y="1188720"/>
            <a:ext cx="9838149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3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188720"/>
            <a:ext cx="10497312" cy="4877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 and Experimental Setup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78408" y="1453895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Html5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25" y="1568013"/>
            <a:ext cx="247253" cy="2472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2768" y="12801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Frontend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HTML, CSS,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28016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48456" y="1453895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Pyth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573" y="1568013"/>
            <a:ext cx="247253" cy="24725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2816" y="12801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Backend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Python 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8016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18504" y="1453895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621" y="1568013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2864" y="12801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Database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SQLite (SQL)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128016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988552" y="1453895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oo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669" y="1568013"/>
            <a:ext cx="247253" cy="24725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82912" y="128016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API Docs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Swagger / OpenAPI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224028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8408" y="241401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Cod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525" y="2528133"/>
            <a:ext cx="247253" cy="24725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2768" y="224028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Dev Tool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VS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1296" y="224028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648456" y="2414016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Chrom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2573" y="2528133"/>
            <a:ext cx="247253" cy="24725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42816" y="224028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Browser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Chrome / 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224028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18504" y="241401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LaptopCod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2621" y="2528133"/>
            <a:ext cx="247253" cy="24725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2864" y="224028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Frontend Port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5500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51392" y="2240280"/>
            <a:ext cx="2487168" cy="8229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988552" y="2414016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Serve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2669" y="2528133"/>
            <a:ext cx="247253" cy="2472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82912" y="2240280"/>
            <a:ext cx="166420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Backend Port</a:t>
            </a:r>
          </a:p>
          <a:p>
            <a:pPr algn="l"/>
            <a:r>
              <a:rPr sz="1550" b="1">
                <a:solidFill>
                  <a:srgbClr val="002060"/>
                </a:solidFill>
                <a:latin typeface="Calibri"/>
              </a:rPr>
              <a:t>8000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841248" y="3246120"/>
          <a:ext cx="10497312" cy="2606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822960"/>
                <a:gridCol w="3611880"/>
                <a:gridCol w="354787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Frontend (web pages)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5500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http://127.0.0.1:5500/index.html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Open the app in the browser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Backend API (FastAPI)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http://127.0.0.1:8000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Frontend sends API requests; backend runs SQL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Swagger / OpenAPI Docs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http://127.0.0.1:8000/docs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View and test every API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Database (SQLite)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Calibri"/>
                        </a:rPr>
                        <a:t>Local database file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Accessed only by the backend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 (ER Diagram)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4_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8366346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89306" y="1325880"/>
            <a:ext cx="2451005" cy="45720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72186" y="1417320"/>
            <a:ext cx="208524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Times New Roman"/>
              </a:rPr>
              <a:t>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186" y="196596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346" y="201167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346" y="230428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User → Solar Panels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186" y="2834639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346" y="288035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346" y="317296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Solar Panel → Energy Readings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186" y="370332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346" y="3749039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0..1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346" y="404164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Energy Reading →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186" y="4572000"/>
            <a:ext cx="208524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346" y="4617720"/>
            <a:ext cx="181092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1 :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346" y="4910328"/>
            <a:ext cx="181092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Solar Panel →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/ Input Details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5760720" cy="4572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Input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288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60120" y="2048256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237" y="2162373"/>
            <a:ext cx="247253" cy="2472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1883664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212848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name, email, phone, 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52928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60120" y="3072384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237" y="3186501"/>
            <a:ext cx="247253" cy="2472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290779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Solar Panels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236976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owner, panel name, location, capacity (kW), sunlight hours/day, cost per unit (₹), installation date,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877056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0120" y="409651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37" y="4210629"/>
            <a:ext cx="247253" cy="24725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3931920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Energy Readings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61104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panel, date, generated energy (kWh), consumed energy (kWh)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901184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60120" y="5120640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Wren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37" y="5234757"/>
            <a:ext cx="247253" cy="2472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00200" y="4956048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285232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panel, work description, date, technician, cost (₹),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280160"/>
            <a:ext cx="448056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40880" y="1280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Sample Dataset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858000" y="1828800"/>
          <a:ext cx="448056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685800"/>
                <a:gridCol w="777240"/>
                <a:gridCol w="685800"/>
                <a:gridCol w="86868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Panel</a:t>
                      </a:r>
                    </a:p>
                  </a:txBody>
                  <a:tcPr marL="54864" marR="54864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kW</a:t>
                      </a:r>
                    </a:p>
                  </a:txBody>
                  <a:tcPr marL="54864" marR="54864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Sun h</a:t>
                      </a:r>
                    </a:p>
                  </a:txBody>
                  <a:tcPr marL="54864" marR="54864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₹/unit</a:t>
                      </a:r>
                    </a:p>
                  </a:txBody>
                  <a:tcPr marL="54864" marR="54864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Exp. kWh</a:t>
                      </a:r>
                    </a:p>
                  </a:txBody>
                  <a:tcPr marL="54864" marR="54864" marT="36576" marB="36576" anchor="ctr">
                    <a:solidFill>
                      <a:srgbClr val="00206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2060"/>
                          </a:solidFill>
                          <a:latin typeface="Calibri"/>
                        </a:rPr>
                        <a:t>Rooftop Array A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₹7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2060"/>
                          </a:solidFill>
                          <a:latin typeface="Calibri"/>
                        </a:rPr>
                        <a:t>Garage Panel B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₹7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16.5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2060"/>
                          </a:solidFill>
                          <a:latin typeface="Calibri"/>
                        </a:rPr>
                        <a:t>Farm Array C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₹6.5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36576" marB="36576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858000" y="3794760"/>
            <a:ext cx="10378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0" y="3840480"/>
            <a:ext cx="10378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297680"/>
            <a:ext cx="10378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Users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5571" y="3794760"/>
            <a:ext cx="10378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05571" y="3840480"/>
            <a:ext cx="10378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5571" y="4297680"/>
            <a:ext cx="10378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Panels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3144" y="3794760"/>
            <a:ext cx="10378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53144" y="3840480"/>
            <a:ext cx="10378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Calibri"/>
              </a:rPr>
              <a:t>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3144" y="4297680"/>
            <a:ext cx="10378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Readings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00716" y="3794760"/>
            <a:ext cx="10378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300716" y="3840480"/>
            <a:ext cx="10378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0716" y="4297680"/>
            <a:ext cx="10378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892040"/>
            <a:ext cx="4480560" cy="100584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995160" y="4892040"/>
            <a:ext cx="42519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2060"/>
                </a:solidFill>
                <a:latin typeface="Calibri"/>
              </a:rPr>
              <a:t>Period: </a:t>
            </a:r>
            <a:r>
              <a:rPr sz="1250" b="0">
                <a:solidFill>
                  <a:srgbClr val="1A1A1A"/>
                </a:solidFill>
                <a:latin typeface="Calibri"/>
              </a:rPr>
              <a:t>30 Aug – 28 Sept 2026</a:t>
            </a:r>
          </a:p>
          <a:p>
            <a:pPr algn="l"/>
            <a:r>
              <a:rPr sz="1250" b="1">
                <a:solidFill>
                  <a:srgbClr val="2E7D32"/>
                </a:solidFill>
                <a:latin typeface="Calibri"/>
              </a:rPr>
              <a:t>Why SQL, not NoSQL: </a:t>
            </a:r>
            <a:r>
              <a:rPr sz="1250" b="0">
                <a:solidFill>
                  <a:srgbClr val="1A1A1A"/>
                </a:solidFill>
                <a:latin typeface="Calibri"/>
              </a:rPr>
              <a:t>fixed structured fields and linked tables need keys and joins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User &amp; Solar Panel Management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26464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514246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details stored in the users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02536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1031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190902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2002536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Panel details stored in the solar_panels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79191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77977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ListU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2867558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679191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Panel name, location, capacity, sunlight hours, cost per unit,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355848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45643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Lin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3544214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08176" y="3355848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Each panel linked to its owner using user_id (FK)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032504"/>
            <a:ext cx="6035040" cy="56692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" y="4133088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UserEdi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70" y="422087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8176" y="4032504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Add, edit, and delete users and panels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DBMS concepts: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78608" y="481888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78608" y="481888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82696" y="481888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82696" y="4818888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Primary Keys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8" y="481888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53128" y="4818888"/>
            <a:ext cx="10789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Foreign Keys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481888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23560" y="481888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INSERT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78608" y="527608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78608" y="527608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UPDATE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82696" y="527608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282696" y="527608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DELETE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86783" y="5276088"/>
            <a:ext cx="6126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986783" y="5276088"/>
            <a:ext cx="612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SELECT</a:t>
            </a:r>
          </a:p>
        </p:txBody>
      </p:sp>
      <p:pic>
        <p:nvPicPr>
          <p:cNvPr id="43" name="Picture 42" descr="z_panel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1280160"/>
            <a:ext cx="4160520" cy="2487733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7178040" y="381361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Solar Panels page</a:t>
            </a:r>
          </a:p>
        </p:txBody>
      </p:sp>
      <p:pic>
        <p:nvPicPr>
          <p:cNvPr id="45" name="Picture 44" descr="z_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4179373"/>
            <a:ext cx="4160520" cy="14139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7178040" y="5638993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Users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Energy Reading &amp; Calculation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399032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UserEdi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486814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User enters daily generated and consumed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929384"/>
            <a:ext cx="6035040" cy="51206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00253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090318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1929384"/>
            <a:ext cx="5349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Stored in the energy_readings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532888"/>
            <a:ext cx="6035040" cy="51206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606040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2693822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532888"/>
            <a:ext cx="5349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Backend calculates the values below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46120"/>
            <a:ext cx="292607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331927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Calibri"/>
              </a:rPr>
              <a:t>Energy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6576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Energy Generated − Energy Consumed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246120"/>
            <a:ext cx="292607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33088" y="331927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Calibri"/>
              </a:rPr>
              <a:t>Expected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36576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Panel Capacity × Sunlight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343400"/>
            <a:ext cx="292607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4128" y="441655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Calibri"/>
              </a:rPr>
              <a:t>Efficiency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548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Actual Generated ÷ Expected ×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343400"/>
            <a:ext cx="292607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33088" y="441655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E7D32"/>
                </a:solidFill>
                <a:latin typeface="Calibri"/>
              </a:rPr>
              <a:t>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47548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Energy Generated × Cost per 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486400"/>
            <a:ext cx="6035040" cy="4572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Example: Farm Array C → 35 ÷ 60 × 100 = 58.33%, savings 35 × ₹6.5 = ₹227.5</a:t>
            </a:r>
          </a:p>
        </p:txBody>
      </p:sp>
      <p:pic>
        <p:nvPicPr>
          <p:cNvPr id="34" name="Picture 33" descr="z_read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1280160"/>
            <a:ext cx="4160520" cy="2633849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7178040" y="3959729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Energy Readings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Dashboard, Reports &amp; Alerts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603504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444752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Tachometer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532534"/>
            <a:ext cx="190195" cy="1901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8176" y="1325880"/>
            <a:ext cx="5349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Dashboard: generated, consumed, balance, efficiency, savings,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39112"/>
            <a:ext cx="603504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215798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File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2245766"/>
            <a:ext cx="190195" cy="1901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8176" y="2039112"/>
            <a:ext cx="5349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Reports: daily, monthly, panel-wise, user-wise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752344"/>
            <a:ext cx="6035040" cy="60350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2688" y="2871215"/>
            <a:ext cx="365760" cy="3657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2958998"/>
            <a:ext cx="190195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752344"/>
            <a:ext cx="5349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Alerts page shows low-efficiency alerts with severity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465576"/>
            <a:ext cx="6035040" cy="60350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2688" y="358444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Wren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3672230"/>
            <a:ext cx="190195" cy="1901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08176" y="3465576"/>
            <a:ext cx="5349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02060"/>
                </a:solidFill>
                <a:latin typeface="Calibri"/>
              </a:rPr>
              <a:t>Alert can be resolved or used to schedule 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251960"/>
            <a:ext cx="6035040" cy="7772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05840" y="43891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Bell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540" y="4509820"/>
            <a:ext cx="261518" cy="2615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91640" y="425196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C5E0B4"/>
                </a:solidFill>
                <a:latin typeface="Calibri"/>
              </a:rPr>
              <a:t>Alert Rule</a:t>
            </a:r>
          </a:p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If efficiency &lt; 60% → low-efficiency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2578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DBMS concepts: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78608" y="5276088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78608" y="5276088"/>
            <a:ext cx="10012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SQL Queries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71315" y="5276088"/>
            <a:ext cx="5349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71315" y="5276088"/>
            <a:ext cx="5349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Joins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5276088"/>
            <a:ext cx="8458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97679" y="5276088"/>
            <a:ext cx="8458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SUM /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4940" y="5276088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234940" y="5276088"/>
            <a:ext cx="7680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Calibri"/>
              </a:rPr>
              <a:t>GROUP BY</a:t>
            </a:r>
          </a:p>
        </p:txBody>
      </p:sp>
      <p:pic>
        <p:nvPicPr>
          <p:cNvPr id="37" name="Picture 36" descr="z_aler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565" y="1280160"/>
            <a:ext cx="3815469" cy="25146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7178040" y="384048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Alerts page</a:t>
            </a:r>
          </a:p>
        </p:txBody>
      </p:sp>
      <p:pic>
        <p:nvPicPr>
          <p:cNvPr id="39" name="Picture 38" descr="z_ma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1900" y="4206240"/>
            <a:ext cx="3932799" cy="1600200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7178040" y="585216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Maintenance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Report period: 30 Aug – 28 Sept 2026  ·  42 readings  ·  3 panels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241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1,068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0228" y="1645920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11396" y="1755648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Energy Consumed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1396" y="2057400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827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241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Energy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+241</a:t>
            </a:r>
            <a:r>
              <a:rPr sz="1400" b="0">
                <a:solidFill>
                  <a:srgbClr val="595959"/>
                </a:solidFill>
                <a:latin typeface="Calibri"/>
              </a:rPr>
              <a:t>  kWh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0228" y="2889504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11396" y="2999232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Average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1396" y="3300984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73.45</a:t>
            </a:r>
            <a:r>
              <a:rPr sz="1400" b="0">
                <a:solidFill>
                  <a:srgbClr val="595959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241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Total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₹7,170.5</a:t>
            </a:r>
            <a:r>
              <a:rPr sz="1400" b="0">
                <a:solidFill>
                  <a:srgbClr val="595959"/>
                </a:solidFill>
                <a:latin typeface="Calibri"/>
              </a:rPr>
              <a:t> 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0228" y="4133087"/>
            <a:ext cx="30403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11396" y="4242816"/>
            <a:ext cx="26746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Alerts Generated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1396" y="4544568"/>
            <a:ext cx="26746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Calibri"/>
              </a:rPr>
              <a:t>7</a:t>
            </a:r>
            <a:r>
              <a:rPr sz="1400" b="0">
                <a:solidFill>
                  <a:srgbClr val="595959"/>
                </a:solidFill>
                <a:latin typeface="Calibri"/>
              </a:rPr>
              <a:t>  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440680"/>
            <a:ext cx="6309360" cy="548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2060"/>
                </a:solidFill>
                <a:latin typeface="Calibri"/>
              </a:rPr>
              <a:t>The system stores data, calculates values, generates alerts, and displays reports correctly.</a:t>
            </a:r>
          </a:p>
        </p:txBody>
      </p:sp>
      <p:pic>
        <p:nvPicPr>
          <p:cNvPr id="29" name="Picture 28" descr="z_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80160"/>
            <a:ext cx="3977639" cy="2618234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360920" y="3944114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Reports page (source of results)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Evaluation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517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3291840"/>
                <a:gridCol w="3959352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Was Tested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 from Our App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Formula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Values match the formulas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Farm Array C: 35 ÷ 60 × 100 = 58.33% (same as app)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Database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Data stored and retrieved correctly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42 readings, 3 panels, 2 users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API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Frontend (5500) fetches from backend (8000)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All pages load data; status shows Connected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Alert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Alert only when efficiency &lt; 60%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All 7 alerts below 60% (lowest 36.36%)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Report Accuracy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Reports built from SQL data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1,068 − 827 = +241 kWh matches report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Dashboard Accuracy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Dashboard matches database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Savings ₹7,170.5 same on home page and 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/ Working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pic>
        <p:nvPicPr>
          <p:cNvPr id="8" name="Picture 7" descr="z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280160"/>
            <a:ext cx="5088636" cy="3334362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4660242"/>
            <a:ext cx="50886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Home page  ·  127.0.0.1:5500/index.html</a:t>
            </a:r>
          </a:p>
        </p:txBody>
      </p:sp>
      <p:pic>
        <p:nvPicPr>
          <p:cNvPr id="10" name="Picture 9" descr="z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924" y="1280160"/>
            <a:ext cx="5088636" cy="3325578"/>
          </a:xfrm>
          <a:prstGeom prst="rect">
            <a:avLst/>
          </a:prstGeom>
          <a:ln w="15875">
            <a:solidFill>
              <a:srgbClr val="9DC3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924" y="4651458"/>
            <a:ext cx="50886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Calibri"/>
              </a:rPr>
              <a:t>Dashboard page  ·  last 14 days, algorithm steps,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257800"/>
            <a:ext cx="2384298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50976" y="53949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5257800"/>
            <a:ext cx="169849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Add panel</a:t>
            </a:r>
          </a:p>
        </p:txBody>
      </p:sp>
      <p:pic>
        <p:nvPicPr>
          <p:cNvPr id="15" name="Picture 14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410" y="5458968"/>
            <a:ext cx="219456" cy="2194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545586" y="5257800"/>
            <a:ext cx="2384298" cy="6400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655314" y="53949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9946" y="5257800"/>
            <a:ext cx="169849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Enter reading</a:t>
            </a:r>
          </a:p>
        </p:txBody>
      </p:sp>
      <p:pic>
        <p:nvPicPr>
          <p:cNvPr id="19" name="Picture 18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747" y="5458968"/>
            <a:ext cx="219456" cy="21945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49924" y="5257800"/>
            <a:ext cx="2384298" cy="6400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59652" y="53949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4284" y="5257800"/>
            <a:ext cx="169849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Auto calculation</a:t>
            </a:r>
          </a:p>
        </p:txBody>
      </p:sp>
      <p:pic>
        <p:nvPicPr>
          <p:cNvPr id="23" name="Picture 22" descr="FaArrowRigh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9086" y="5458968"/>
            <a:ext cx="219456" cy="2194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954262" y="5257800"/>
            <a:ext cx="2384298" cy="6400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063990" y="53949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8622" y="5257800"/>
            <a:ext cx="169849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Alert /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Existing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507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566160"/>
                <a:gridCol w="418795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Existing / Manual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 storage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Paper notes or loose spreadsheets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SQL tables with primary and foreign keys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Energy calculation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Calculated by hand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Automatic balance and expected energy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Efficiency tracking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Rarely tracked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Calculated for every reading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Savings calculation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Rough manual estimate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Energy generated × cost per unit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Low-efficiency alerts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Automatic when efficiency &lt; 60%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Prepared manually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Daily, monthly, panel-wise, user-wise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Ease of use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Time-consuming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Simple web forms and dashboard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DBMS integration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Tables, keys, joins, SQL queries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Challenges, Solutions and 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6492239" cy="4251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3977639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Frontend–backend connection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API calls from frontend (5500) to FastAPI (8000)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Database integration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SQL tables with keys and relationships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Formula validation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Checked with sample data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Alert generation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Rule: efficiency below 60%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Report generation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SQL queries on stored records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2060"/>
                          </a:solidFill>
                          <a:latin typeface="Calibri"/>
                        </a:rPr>
                        <a:t>UI clarity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Simple dashboard, tables, and chart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280160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680960" y="1901952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Wifi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353" y="1985345"/>
            <a:ext cx="180685" cy="1806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1828800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IoT sensors for real-time readings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414016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680960" y="248716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Clou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353" y="2570561"/>
            <a:ext cx="180685" cy="1806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241401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Cloud deployment (Docker)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999232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680960" y="3072384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Mobil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4353" y="3155777"/>
            <a:ext cx="180685" cy="1806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38160" y="299923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Mobile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584448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680960" y="3657600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Bra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4353" y="3740993"/>
            <a:ext cx="180685" cy="1806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38160" y="3584448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Energy prediction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169664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680960" y="4242816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Envelop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4353" y="4326209"/>
            <a:ext cx="180685" cy="1806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38160" y="4169664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Email / SMS alert notifications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754880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680960" y="482803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UserShield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4353" y="4911425"/>
            <a:ext cx="180685" cy="1806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38160" y="4754880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Role-based login (admin / user)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5340096"/>
            <a:ext cx="3749039" cy="49377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680960" y="541324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aFileExpor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4353" y="5496641"/>
            <a:ext cx="180685" cy="1806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38160" y="53400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Calibri"/>
              </a:rPr>
              <a:t>PDF report export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 Mapping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5171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7589520"/>
                <a:gridCol w="1810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marL="137160" marR="137160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Mapping in the Project</a:t>
                      </a:r>
                    </a:p>
                  </a:txBody>
                  <a:tcPr marL="137160" marR="137160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Shown in</a:t>
                      </a:r>
                    </a:p>
                  </a:txBody>
                  <a:tcPr marL="137160" marR="137160" marT="36576" marB="36576" anchor="ctr">
                    <a:solidFill>
                      <a:srgbClr val="00206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CO1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Database tables, normalized schema, SQL queries, joins, reports</a:t>
                      </a:r>
                    </a:p>
                  </a:txBody>
                  <a:tcPr marL="137160" marR="137160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Slides 9, 11–14</a:t>
                      </a:r>
                    </a:p>
                  </a:txBody>
                  <a:tcPr marL="91440" marR="91440" marT="36576" marB="36576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SQL vs NoSQL: SQL selected because solar data is structured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Slides 9, 10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CO3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FastAPI REST APIs, validation, Swagger / OpenAPI docs (port 8000, /docs)</a:t>
                      </a:r>
                    </a:p>
                  </a:txBody>
                  <a:tcPr marL="137160" marR="137160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Slides 7, 8</a:t>
                      </a:r>
                    </a:p>
                  </a:txBody>
                  <a:tcPr marL="91440" marR="91440" marT="36576" marB="36576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Backend modules: users, panels, readings, alerts, reports, maintenance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Slides 11–13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CO5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Architecture divisible into User, Energy, Report, and Alert services</a:t>
                      </a:r>
                    </a:p>
                  </a:txBody>
                  <a:tcPr marL="137160" marR="137160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 7</a:t>
                      </a:r>
                    </a:p>
                  </a:txBody>
                  <a:tcPr marL="91440" marR="91440" marT="36576" marB="36576" anchor="ctr">
                    <a:solidFill>
                      <a:srgbClr val="DEEBF7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CO6</a:t>
                      </a:r>
                    </a:p>
                  </a:txBody>
                  <a:tcPr marL="137160" marR="137160" marT="36576" marB="36576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Full-stack integration: frontend (5500) + backend (8000) + SQLite; Docker for future deployment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Slides 8, 16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DBMS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280160"/>
            <a:ext cx="6035040" cy="46177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Times New Roman"/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874519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084831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874519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DBMS-based web application for solar energy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642615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52927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2642615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Stores panel data and daily energy readings in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410711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621023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3410711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Calculates efficiency and savings; generates alerts below 60%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178808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389120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00200" y="4178808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Dashboard and reports built from SQL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946904"/>
            <a:ext cx="56235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1572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0200" y="4946904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2060"/>
                </a:solidFill>
                <a:latin typeface="Calibri"/>
              </a:rPr>
              <a:t>Shows database design, keys, joins, REST APIs, and full-stack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280160"/>
            <a:ext cx="4160520" cy="46177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360920" y="1389888"/>
            <a:ext cx="420624" cy="42062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869" y="1490837"/>
            <a:ext cx="218724" cy="2187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09560" y="1371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Times New Roman"/>
              </a:rPr>
              <a:t>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920240"/>
            <a:ext cx="379476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[1] S. R. Madeti, S. N. Singh, “Monitoring system for photovoltaic plants: A review,” Renewable and Sustainable Energy Reviews, vol. 67, 2017.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[2] A. S. Spanias, “Solar energy management as an IoT application,” IEEE IISA, 2017.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[3] M. Beaudin, H. Zareipour, “Home energy management systems: A review,” Renewable and Sustainable Energy Reviews, vol. 45, 2015.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[4] A. Silberschatz, H. F. Korth, S. Sudarshan, Database System Concepts, 7th ed., McGraw-Hill, 2019.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[5] SQLite Documentation, sqlite.org/docs.html.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Calibri"/>
              </a:rPr>
              <a:t>[6] FastAPI Documentation, fastapi.tiangolo.com.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