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76" r:id="rId27"/>
    <p:sldId id="275" r:id="rId26"/>
    <p:sldId id="274" r:id="rId25"/>
    <p:sldId id="273" r:id="rId24"/>
    <p:sldId id="272" r:id="rId23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5.xml"/><Relationship Id="rId16" Type="http://schemas.openxmlformats.org/officeDocument/2006/relationships/slide" Target="slides/slide14.xml"/><Relationship Id="rId17" Type="http://schemas.openxmlformats.org/officeDocument/2006/relationships/slide" Target="slides/slide13.xml"/><Relationship Id="rId18" Type="http://schemas.openxmlformats.org/officeDocument/2006/relationships/slide" Target="slides/slide12.xml"/><Relationship Id="rId19" Type="http://schemas.openxmlformats.org/officeDocument/2006/relationships/slide" Target="slides/slide11.xml"/><Relationship Id="rId20" Type="http://schemas.openxmlformats.org/officeDocument/2006/relationships/slide" Target="slides/slide10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7.xml"/><Relationship Id="rId24" Type="http://schemas.openxmlformats.org/officeDocument/2006/relationships/slide" Target="slides/slide6.xml"/><Relationship Id="rId25" Type="http://schemas.openxmlformats.org/officeDocument/2006/relationships/slide" Target="slides/slide5.xml"/><Relationship Id="rId26" Type="http://schemas.openxmlformats.org/officeDocument/2006/relationships/slide" Target="slides/slide4.xml"/><Relationship Id="rId27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and say this is the final review (Review-4).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and panels are the base data. Every panel belongs to one user through the user_id foreign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five rubric points and show where each one is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user enters generated and consumed energy. The backend calculates the four values and stores them in energy_readings.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 output pages and the 60% alert rule. Reports use SQL queries with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tools. Open the frontend at 127.0.0.1:5500/index.html; the backend API runs at 127.0.0.1:8000 and Swagger docs at 127.0.0.1:8000/docs.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real totals from our Reports page for 30 Aug to 28 Sept 2026: 42 readings from 3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check compares the system output with a manual calculation or the stored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working flow: add a panel, enter a reading, see the calculations, alerts,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systems need hand-written records and calculations. Our system does it automatically from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what is new in our system. Right: how it supports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who benefits and how: monitoring, renewable use, less wastage, finding weak panels, saving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challenge, explain how we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planned improvements beyond the current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what the project achieved, then mention the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0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29.png"/><Relationship Id="rId8" Type="http://schemas.openxmlformats.org/officeDocument/2006/relationships/image" Target="../media/image21.png"/><Relationship Id="rId9" Type="http://schemas.openxmlformats.org/officeDocument/2006/relationships/image" Target="../media/image31.png"/><Relationship Id="rId10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8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36.png"/><Relationship Id="rId7" Type="http://schemas.openxmlformats.org/officeDocument/2006/relationships/image" Target="../media/image19.png"/><Relationship Id="rId8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44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-128016"/>
            <a:ext cx="12228271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pic>
        <p:nvPicPr>
          <p:cNvPr id="3" name="Image 0" descr="/home/claude/work/tpl_assets/klh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502920"/>
            <a:ext cx="6858000" cy="8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813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SYSTEMS ENGINEERING AND DISTRIBUTED BACKEND DEVELOPMENT (25CS1302E)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019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Y25  ·  2026–2027  ·  Trimester 4  ·  Section 13  ·  Team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ENERGY MANAGEMENT AND</a:t>
            </a:r>
            <a:endParaRPr lang="en-US" sz="3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0" dirty="0" b="1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Review-4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Subject: Database Management System Project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2520090226  –  Lahari Namala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3492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2520090236  –  K. Keathana Vikashini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2520090234  –  C. Poojitha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Times New Roman"/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Review-4 Rubric Requirements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78408" y="1380744"/>
            <a:ext cx="438912" cy="43891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lipboard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46" y="1486082"/>
            <a:ext cx="228234" cy="228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12801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Accuracy of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2801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Calibri"/>
              </a:rPr>
              <a:t>Final values and verification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426463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29800" y="1426463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E79"/>
                </a:solidFill>
                <a:latin typeface="Calibri"/>
              </a:rPr>
              <a:t>Slides 7,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039112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2139696"/>
            <a:ext cx="438912" cy="43891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Co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746" y="2245034"/>
            <a:ext cx="228234" cy="2282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203911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Technical Competence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03911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Calibri"/>
              </a:rPr>
              <a:t>Three modules, database, APIs, 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18541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29800" y="218541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Slides 3–6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798063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78408" y="2898647"/>
            <a:ext cx="438912" cy="43891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Lightbul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746" y="3003986"/>
            <a:ext cx="228234" cy="2282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0200" y="2798063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Innovative and Sustainable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7980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Calibri"/>
              </a:rPr>
              <a:t>Automatic efficiency, savings,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94436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829800" y="294436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E79"/>
                </a:solidFill>
                <a:latin typeface="Calibri"/>
              </a:rPr>
              <a:t>Slide 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3557015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78408" y="3657599"/>
            <a:ext cx="438912" cy="43891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a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746" y="3762938"/>
            <a:ext cx="228234" cy="2282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0200" y="3557015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Utility to Society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557015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Calibri"/>
              </a:rPr>
              <a:t>Benefits for homes, colleges, organizations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37033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29800" y="370332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Slide 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315968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78408" y="4416552"/>
            <a:ext cx="438912" cy="43891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ChalkboardTeach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746" y="4521890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00200" y="431596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Presentation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4315968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Calibri"/>
              </a:rPr>
              <a:t>Working screens, tables, clear comparison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29800" y="446227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829800" y="44622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E79"/>
                </a:solidFill>
                <a:latin typeface="Calibri"/>
              </a:rPr>
              <a:t>Slides 9, 10, 13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" y="5166360"/>
            <a:ext cx="10497312" cy="7772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05840" y="532180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aCheckCirc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" y="5431536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45920" y="5166360"/>
            <a:ext cx="9509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libri"/>
              </a:rPr>
              <a:t>Review-4 proves the final project is completed, tested, and working with frontend, backend, database, algorithm, reports, and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User &amp; Solar Panel Management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26464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514246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8176" y="1325880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User details are stored in the users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02536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1031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190902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8176" y="2002536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Solar panel details are stored in the solar_panels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679191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779775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ListU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2867558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2679191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Panel name, location, capacity, sunlight hours, cost per unit,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355848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45643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Co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" y="3544214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08176" y="3355848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Manages basic solar panel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032504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133088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Lin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70" y="4220870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8176" y="4032504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Each panel is linked to its owner using user_id (FK)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754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DBMS concepts: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78608" y="477316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578608" y="477316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Tables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82696" y="47731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82696" y="4773168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Primary Keys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3128" y="47731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53128" y="4773168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Foreign Keys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477316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23560" y="477316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INSERT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78608" y="523036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578608" y="523036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UPDATE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82696" y="523036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282696" y="523036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DELETE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86783" y="523036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986783" y="523036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SELECT</a:t>
            </a:r>
          </a:p>
        </p:txBody>
      </p:sp>
      <p:pic>
        <p:nvPicPr>
          <p:cNvPr id="43" name="Picture 42" descr="z_panel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1280160"/>
            <a:ext cx="4160520" cy="2487733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7178040" y="3813613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Solar Panels page</a:t>
            </a:r>
          </a:p>
        </p:txBody>
      </p:sp>
      <p:pic>
        <p:nvPicPr>
          <p:cNvPr id="45" name="Picture 44" descr="z_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4179373"/>
            <a:ext cx="4160520" cy="14139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7178040" y="5638993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Users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Energy Reading &amp; Calculation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6035040" cy="53035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08176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UserEdi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495958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8176" y="1325880"/>
            <a:ext cx="5349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User enters daily generated and consumed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947672"/>
            <a:ext cx="6035040" cy="53035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029967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117750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8176" y="1947672"/>
            <a:ext cx="5349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Data is stored in the energy_readings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569463"/>
            <a:ext cx="6035040" cy="53035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651759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273954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2569463"/>
            <a:ext cx="5349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System calculates balance, expected energy, efficiency, savings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91840"/>
            <a:ext cx="292607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34015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Energy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4903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Energy Generated − Energy Consumed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291840"/>
            <a:ext cx="292607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33088" y="34015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Expected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374903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Panel Capacity × Sunlight Hours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526280"/>
            <a:ext cx="292607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4128" y="463600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Efficiency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983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Actual Generated ÷ Expected ×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4526280"/>
            <a:ext cx="292607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33088" y="463600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4983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Energy Generated × Cost per Unit</a:t>
            </a:r>
          </a:p>
        </p:txBody>
      </p:sp>
      <p:pic>
        <p:nvPicPr>
          <p:cNvPr id="32" name="Picture 31" descr="z_read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1280160"/>
            <a:ext cx="4160520" cy="2633849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7178040" y="395972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Energy Readings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Dashboard, Reports &amp; Alerts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6035040" cy="777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531619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Tachometer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619402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8176" y="132588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Dashboard: generated, consumed, balance, efficiency, savings,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267712"/>
            <a:ext cx="6035040" cy="7772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47345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File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561234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8176" y="2267712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Reports: daily, monthly, panel-wise, and user-wise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09544"/>
            <a:ext cx="6035040" cy="777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415284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Be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3503066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3209544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Alerts page displays low-efficiency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160520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05840" y="43434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Bell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540" y="4464100"/>
            <a:ext cx="261518" cy="26151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91640" y="4160520"/>
            <a:ext cx="5029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C5E0B4"/>
                </a:solidFill>
                <a:latin typeface="Calibri"/>
              </a:rPr>
              <a:t>Alert Rule</a:t>
            </a:r>
          </a:p>
          <a:p>
            <a:pPr algn="l"/>
            <a:r>
              <a:rPr sz="1550" b="1">
                <a:solidFill>
                  <a:srgbClr val="FFFFFF"/>
                </a:solidFill>
                <a:latin typeface="Calibri"/>
              </a:rPr>
              <a:t>If efficiency &lt; 60%, a low-efficiency alert is generated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349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DBMS concepts: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5367527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578608" y="5367527"/>
            <a:ext cx="10012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SQL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1315" y="5367527"/>
            <a:ext cx="5349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71315" y="5367527"/>
            <a:ext cx="5349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Joins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5367527"/>
            <a:ext cx="6903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97679" y="5367527"/>
            <a:ext cx="6903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9492" y="5367527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79492" y="5367527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Data Retrieval</a:t>
            </a:r>
          </a:p>
        </p:txBody>
      </p:sp>
      <p:pic>
        <p:nvPicPr>
          <p:cNvPr id="33" name="Picture 32" descr="z_aler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1325880"/>
            <a:ext cx="4160520" cy="2742006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7178040" y="4113606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Alerts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24128" y="1568195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90" y="1704258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37360" y="146303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Development Tool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VS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2726" y="1325880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705606" y="1568195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Html5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668" y="1704258"/>
            <a:ext cx="294802" cy="2948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18838" y="146303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Frontend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HTML, CSS,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4204" y="1325880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7084" y="1568195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Pytho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146" y="1704258"/>
            <a:ext cx="294802" cy="2948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00316" y="146303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Backend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Python 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5682" y="1325880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068561" y="1568195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4624" y="1704258"/>
            <a:ext cx="294802" cy="2948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81794" y="146303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Database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SQLite / SQL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2606039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24128" y="2848356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Laptop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0190" y="2984418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37360" y="274319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Frontend Port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5500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2726" y="2606039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705606" y="2848356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Serv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1668" y="2984418"/>
            <a:ext cx="294802" cy="29480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18838" y="274319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Backend Port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8000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4204" y="2606039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7084" y="2848356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Book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3146" y="2984418"/>
            <a:ext cx="294802" cy="29480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00316" y="274319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API Documentation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Swagger / OpenAPI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5682" y="2606039"/>
            <a:ext cx="2452878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068561" y="2848356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Chrom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4624" y="2984418"/>
            <a:ext cx="294802" cy="2948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81794" y="2743199"/>
            <a:ext cx="1465326" cy="777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75B6"/>
                </a:solidFill>
                <a:latin typeface="Calibri"/>
              </a:rPr>
              <a:t>Browser</a:t>
            </a:r>
          </a:p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Chrome / Edge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841248" y="3840480"/>
          <a:ext cx="10497312" cy="2066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1280160"/>
                <a:gridCol w="610819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Frontend (web pages)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E7D32"/>
                          </a:solidFill>
                          <a:latin typeface="Calibri"/>
                        </a:rPr>
                        <a:t>http://127.0.0.1:5500/index.html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Backend API (FastAPI)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E7D32"/>
                          </a:solidFill>
                          <a:latin typeface="Calibri"/>
                        </a:rPr>
                        <a:t>http://127.0.0.1:8000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Swagger / OpenAPI Docs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E7D32"/>
                          </a:solidFill>
                          <a:latin typeface="Calibri"/>
                        </a:rPr>
                        <a:t>http://127.0.0.1:8000/docs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Database (SQLite)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595959"/>
                          </a:solidFill>
                          <a:latin typeface="Calibri"/>
                        </a:rPr>
                        <a:t>Local database file, accessed by the backend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Report period: 30 Aug – 28 Sept 2026  ·  42 readings  ·  3 panels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2416" y="1755648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Energy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057400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1,068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0228" y="1645920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11396" y="1755648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Energy Consumed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1396" y="2057400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827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889504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2416" y="2999232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Energy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3300984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+241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0228" y="2889504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11396" y="2999232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Average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1396" y="3300984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73.45</a:t>
            </a:r>
            <a:r>
              <a:rPr sz="1400" b="0">
                <a:solidFill>
                  <a:srgbClr val="595959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133087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2416" y="4242816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4544568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₹7,170.5</a:t>
            </a:r>
            <a:r>
              <a:rPr sz="1400" b="0">
                <a:solidFill>
                  <a:srgbClr val="595959"/>
                </a:solidFill>
                <a:latin typeface="Calibri"/>
              </a:rPr>
              <a:t>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0228" y="4133087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11396" y="4242816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Alerts Generated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1396" y="4544568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Calibri"/>
              </a:rPr>
              <a:t>7</a:t>
            </a:r>
            <a:r>
              <a:rPr sz="1400" b="0">
                <a:solidFill>
                  <a:srgbClr val="595959"/>
                </a:solidFill>
                <a:latin typeface="Calibri"/>
              </a:rPr>
              <a:t>  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5440680"/>
            <a:ext cx="6309360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Stores input data, performs calculations, generates alerts, and displays reports successfully.</a:t>
            </a:r>
          </a:p>
        </p:txBody>
      </p:sp>
      <p:pic>
        <p:nvPicPr>
          <p:cNvPr id="29" name="Picture 28" descr="z_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80160"/>
            <a:ext cx="3977639" cy="2618234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360920" y="3944114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Reports page (source of results)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Evaluation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4517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291840"/>
                <a:gridCol w="3913632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Was Tested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 from Our App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Formula Accuracy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Calculated values match expected formulas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Farm Array C: 35 ÷ 60 × 100 = 58.33% (matches app)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Database Accuracy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User, panel, reading, alert data stored correctly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42 readings, 3 panels, 2 users stored and retrieved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API Accuracy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Frontend fetches data from backend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All pages load data; status shows Connected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Alert Accuracy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Alert generated when efficiency &lt; 60%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All 7 alerts are below 60% (lowest 36.36%)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Report Accuracy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Reports built from stored SQL data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1,068 − 827 = +241 kWh matches report balance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Dashboard Accuracy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Dashboard values match database records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Savings ₹7,170.5 same on dashboard and 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/ Working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z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280160"/>
            <a:ext cx="2452878" cy="1607264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2933144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Home Page</a:t>
            </a:r>
          </a:p>
        </p:txBody>
      </p:sp>
      <p:pic>
        <p:nvPicPr>
          <p:cNvPr id="10" name="Picture 9" descr="z_pan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726" y="1280160"/>
            <a:ext cx="2452878" cy="1466669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522726" y="2792549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Solar Panels</a:t>
            </a:r>
          </a:p>
        </p:txBody>
      </p:sp>
      <p:pic>
        <p:nvPicPr>
          <p:cNvPr id="12" name="Picture 11" descr="z_read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204" y="1280160"/>
            <a:ext cx="2452878" cy="1552813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204204" y="2878693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Energy Readings</a:t>
            </a:r>
          </a:p>
        </p:txBody>
      </p:sp>
      <p:pic>
        <p:nvPicPr>
          <p:cNvPr id="14" name="Picture 13" descr="z_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5682" y="1280160"/>
            <a:ext cx="2452878" cy="1614577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885682" y="2940457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Reports</a:t>
            </a:r>
          </a:p>
        </p:txBody>
      </p:sp>
      <p:pic>
        <p:nvPicPr>
          <p:cNvPr id="16" name="Picture 15" descr="z_aler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3520440"/>
            <a:ext cx="2452878" cy="1616578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41248" y="5182738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Alerts</a:t>
            </a:r>
          </a:p>
        </p:txBody>
      </p:sp>
      <p:pic>
        <p:nvPicPr>
          <p:cNvPr id="18" name="Picture 17" descr="z_ma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2726" y="3520440"/>
            <a:ext cx="2452878" cy="998041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3522726" y="4564201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Maintenance</a:t>
            </a:r>
          </a:p>
        </p:txBody>
      </p:sp>
      <p:pic>
        <p:nvPicPr>
          <p:cNvPr id="20" name="Picture 19" descr="z_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4204" y="3520440"/>
            <a:ext cx="2452878" cy="833579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204204" y="4399739"/>
            <a:ext cx="245287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5682" y="3520439"/>
            <a:ext cx="2452878" cy="2011679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22842" y="3611879"/>
            <a:ext cx="217855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</a:rPr>
              <a:t>Demo Flow</a:t>
            </a:r>
          </a:p>
        </p:txBody>
      </p:sp>
      <p:sp>
        <p:nvSpPr>
          <p:cNvPr id="24" name="Oval 23"/>
          <p:cNvSpPr/>
          <p:nvPr/>
        </p:nvSpPr>
        <p:spPr>
          <a:xfrm>
            <a:off x="9050274" y="4041647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4322" y="4023359"/>
            <a:ext cx="1812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Add panel</a:t>
            </a:r>
          </a:p>
        </p:txBody>
      </p:sp>
      <p:sp>
        <p:nvSpPr>
          <p:cNvPr id="26" name="Oval 25"/>
          <p:cNvSpPr/>
          <p:nvPr/>
        </p:nvSpPr>
        <p:spPr>
          <a:xfrm>
            <a:off x="9050274" y="4407407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4322" y="4389120"/>
            <a:ext cx="1812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Enter reading</a:t>
            </a:r>
          </a:p>
        </p:txBody>
      </p:sp>
      <p:sp>
        <p:nvSpPr>
          <p:cNvPr id="28" name="Oval 27"/>
          <p:cNvSpPr/>
          <p:nvPr/>
        </p:nvSpPr>
        <p:spPr>
          <a:xfrm>
            <a:off x="9050274" y="4773167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322" y="4754879"/>
            <a:ext cx="1812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 calculation</a:t>
            </a:r>
          </a:p>
        </p:txBody>
      </p:sp>
      <p:sp>
        <p:nvSpPr>
          <p:cNvPr id="30" name="Oval 29"/>
          <p:cNvSpPr/>
          <p:nvPr/>
        </p:nvSpPr>
        <p:spPr>
          <a:xfrm>
            <a:off x="9050274" y="5138927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4322" y="5120640"/>
            <a:ext cx="1812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Alert /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Existing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566160"/>
                <a:gridCol w="418795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Existing / Manual System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Proposed System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 storage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Paper notes or loose spreadsheets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SQL tables with primary and foreign keys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Energy calculation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Calculated by hand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Automatic balance and expected energy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Efficiency tracking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Rarely tracked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Calculated for every reading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Savings calculation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Rough manual estimate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Energy generated × cost per unit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Low-efficiency alerts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Automatic when efficiency &lt; 60%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Prepared manually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Daily, monthly, panel-wise, user-wise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Ease of use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Time-consuming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Simple web forms and dashboard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DBMS integration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Tables, keys, joins, SQL queries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1248" y="5577840"/>
            <a:ext cx="10497312" cy="4572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78408" y="564184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412" y="5720852"/>
            <a:ext cx="171175" cy="171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5577840"/>
            <a:ext cx="97566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DBMS / CO link:  </a:t>
            </a:r>
            <a:r>
              <a:rPr sz="1500" b="0">
                <a:solidFill>
                  <a:srgbClr val="002060"/>
                </a:solidFill>
                <a:latin typeface="Calibri"/>
              </a:rPr>
              <a:t>Existing systems need manual records; ours stores data in a database and calculates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Innovative and Sustainable Features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5088636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9848" y="1280160"/>
            <a:ext cx="47228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Innovative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920240"/>
            <a:ext cx="5088636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78408" y="203911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25" y="2153229"/>
            <a:ext cx="247253" cy="2472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18488" y="1920240"/>
            <a:ext cx="41742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Database-driven solar energy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770632"/>
            <a:ext cx="5088636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78408" y="2889504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Calcula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525" y="3003621"/>
            <a:ext cx="247253" cy="2472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18488" y="2770632"/>
            <a:ext cx="41742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Automatic efficiency calculation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621024"/>
            <a:ext cx="5088636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78408" y="3739896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Be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525" y="3854013"/>
            <a:ext cx="247253" cy="2472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18488" y="3621024"/>
            <a:ext cx="41742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Low-efficiency alert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471416"/>
            <a:ext cx="5088636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78408" y="4590288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RupeeSig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525" y="4704405"/>
            <a:ext cx="247253" cy="2472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18488" y="4471416"/>
            <a:ext cx="41742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Energy savings calculation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321808"/>
            <a:ext cx="5088636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78408" y="5440680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aChartBa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525" y="5554797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18488" y="5321808"/>
            <a:ext cx="41742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Dashboard and report generation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9924" y="1280160"/>
            <a:ext cx="5088636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78524" y="1280160"/>
            <a:ext cx="47228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Sustainable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9924" y="1920240"/>
            <a:ext cx="5088636" cy="1005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7084" y="218541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SolarPan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201" y="2299533"/>
            <a:ext cx="247253" cy="24725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27164" y="1920240"/>
            <a:ext cx="4174236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Supports renewable energy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9924" y="3063240"/>
            <a:ext cx="5088636" cy="1005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7084" y="332841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Wifi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1201" y="3442533"/>
            <a:ext cx="247253" cy="2472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27164" y="3063240"/>
            <a:ext cx="4174236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Can be extended with IoT sensors in future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9924" y="4206240"/>
            <a:ext cx="5088636" cy="1005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7084" y="447141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aSeedling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1201" y="4585533"/>
            <a:ext cx="247253" cy="24725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27164" y="4206240"/>
            <a:ext cx="4174236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Promotes sustainable energy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Utility to Society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3316224" cy="2103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110740" y="15544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Tachometer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277" y="1741017"/>
            <a:ext cx="404164" cy="404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4128" y="242316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/>
              </a:rPr>
              <a:t>Monitor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807208"/>
            <a:ext cx="2859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1A1A1A"/>
                </a:solidFill>
                <a:latin typeface="Calibri"/>
              </a:rPr>
              <a:t>Track solar generation and consumption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1792" y="1325880"/>
            <a:ext cx="3316224" cy="2103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701284" y="1554480"/>
            <a:ext cx="777240" cy="7772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821" y="1741017"/>
            <a:ext cx="404164" cy="404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4672" y="242316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/>
              </a:rPr>
              <a:t>Renewable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0392" y="2807208"/>
            <a:ext cx="2859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1A1A1A"/>
                </a:solidFill>
                <a:latin typeface="Calibri"/>
              </a:rPr>
              <a:t>Encourages use of solar 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2336" y="1325880"/>
            <a:ext cx="3316224" cy="2103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291828" y="15544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Recy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8365" y="1741017"/>
            <a:ext cx="404164" cy="4041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05215" y="242316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/>
              </a:rPr>
              <a:t>Less Wastage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36" y="2807208"/>
            <a:ext cx="2859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1A1A1A"/>
                </a:solidFill>
                <a:latin typeface="Calibri"/>
              </a:rPr>
              <a:t>Reduces energy wastage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703320"/>
            <a:ext cx="3316224" cy="2103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2110740" y="3931920"/>
            <a:ext cx="777240" cy="7772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7277" y="4118457"/>
            <a:ext cx="404164" cy="404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4128" y="480060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/>
              </a:rPr>
              <a:t>Find Weak Panels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184648"/>
            <a:ext cx="2859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1A1A1A"/>
                </a:solidFill>
                <a:latin typeface="Calibri"/>
              </a:rPr>
              <a:t>Identifies low-performing solar panels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1792" y="3703320"/>
            <a:ext cx="3316224" cy="2103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701284" y="393192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7821" y="4118457"/>
            <a:ext cx="404164" cy="4041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14672" y="480060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/>
              </a:rPr>
              <a:t>Cost Savings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0392" y="5184648"/>
            <a:ext cx="2859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1A1A1A"/>
                </a:solidFill>
                <a:latin typeface="Calibri"/>
              </a:rPr>
              <a:t>Supports savings through energy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2336" y="3703320"/>
            <a:ext cx="3316224" cy="2103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291828" y="3931920"/>
            <a:ext cx="777240" cy="7772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Schoo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8365" y="4118457"/>
            <a:ext cx="404164" cy="404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05215" y="480060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/>
              </a:rPr>
              <a:t>Wide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0936" y="5184648"/>
            <a:ext cx="2859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1A1A1A"/>
                </a:solidFill>
                <a:latin typeface="Calibri"/>
              </a:rPr>
              <a:t>Useful for homes, colleges, small organizations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45628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4206240"/>
                <a:gridCol w="565099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02060"/>
                          </a:solidFill>
                          <a:latin typeface="Calibri"/>
                        </a:rPr>
                        <a:t>Backend and frontend connection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Used API calls between frontend and FastAPI backend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02060"/>
                          </a:solidFill>
                          <a:latin typeface="Calibri"/>
                        </a:rPr>
                        <a:t>Database integration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Used SQL database tables and relationships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109728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02060"/>
                          </a:solidFill>
                          <a:latin typeface="Calibri"/>
                        </a:rPr>
                        <a:t>Formula validation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Checked calculations using sample data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109728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02060"/>
                          </a:solidFill>
                          <a:latin typeface="Calibri"/>
                        </a:rPr>
                        <a:t>Alert generation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Applied rule: efficiency below 60%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109728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02060"/>
                          </a:solidFill>
                          <a:latin typeface="Calibri"/>
                        </a:rPr>
                        <a:t>Report generation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Used stored database records and SQL queries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109728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02060"/>
                          </a:solidFill>
                          <a:latin typeface="Calibri"/>
                        </a:rPr>
                        <a:t>UI clarity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Used simple dashboard, tables, and charts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701927" y="155448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Wifi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491" y="173004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8408" y="2377439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IoT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7063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Automatic real-time readings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2726" y="132588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383405" y="155448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Clou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969" y="1730044"/>
            <a:ext cx="380390" cy="380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9886" y="2377439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Cloud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277063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Online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4204" y="132588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064883" y="155448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Mobil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447" y="1730044"/>
            <a:ext cx="380390" cy="380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1364" y="2377439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277063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Mobile application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5682" y="132588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46361" y="155448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Br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925" y="1730044"/>
            <a:ext cx="380390" cy="38039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22842" y="2377439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Advanced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2842" y="277063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Energy prediction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81987" y="365760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042666" y="388620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Envelop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230" y="4061764"/>
            <a:ext cx="380390" cy="38039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19147" y="4709160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Email / SMS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19147" y="510235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Instant alert notifications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63465" y="365760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5724144" y="388620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UserShield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9708" y="4061764"/>
            <a:ext cx="380390" cy="3803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00625" y="4709160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Role-Based Login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0625" y="510235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Separate admin and user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4943" y="3657600"/>
            <a:ext cx="2452878" cy="20574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405622" y="388620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aFileExpor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1186" y="4061764"/>
            <a:ext cx="380390" cy="38039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682103" y="4709160"/>
            <a:ext cx="21785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2060"/>
                </a:solidFill>
                <a:latin typeface="Calibri"/>
              </a:rPr>
              <a:t>Export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2103" y="5102352"/>
            <a:ext cx="21785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Download reports as PDF / 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6035040" cy="4617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Times New Roman"/>
              </a:rP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874519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084831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1874519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A DBMS-based web application for solar energy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642615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52927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2642615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Stores solar panel data and records daily energy readings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410711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621023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3410711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Calculates efficiency and savings, and generates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178808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389120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00200" y="4178808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Displays dashboard and reports from SQL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946904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1572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00200" y="4946904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Demonstrates database design, relationships, API integration, and full-stack implementation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280160"/>
            <a:ext cx="4160520" cy="46177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360920" y="1389888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869" y="1490837"/>
            <a:ext cx="218724" cy="2187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09560" y="1371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Times New Roman"/>
              </a:rPr>
              <a:t>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965960"/>
            <a:ext cx="37947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[1] A. Silberschatz, H. F. Korth, S. Sudarshan, Database System Concepts, 7th ed., McGraw-Hill, 2019.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[2] SQLite, “SQL As Understood By SQLite,” sqlite.org/lang.html.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[3] FastAPI Documentation, fastapi.tiangolo.com.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[4] SQLite Documentation, sqlite.org/docs.html; MySQL 8.0 Reference Manual, dev.mysql.com/doc.</a:t>
            </a:r>
          </a:p>
          <a:p>
            <a:pPr algn="l"/>
            <a:r>
              <a:rPr sz="1350" b="0">
                <a:solidFill>
                  <a:srgbClr val="1A1A1A"/>
                </a:solidFill>
                <a:latin typeface="Calibri"/>
              </a:rPr>
              <a:t>[5] S. R. Madeti and S. N. Singh, “Monitoring system for photovoltaic plants: A review,” Renewable and Sustainable Energy Reviews, vol. 67,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