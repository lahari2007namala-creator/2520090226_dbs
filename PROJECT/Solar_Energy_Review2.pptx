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71" r:id="rId22"/>
    <p:sldId id="270" r:id="rId21"/>
    <p:sldId id="269" r:id="rId20"/>
    <p:sldId id="268" r:id="rId19"/>
    <p:sldId id="267" r:id="rId18"/>
    <p:sldId id="266" r:id="rId17"/>
    <p:sldId id="265" r:id="rId16"/>
    <p:sldId id="264" r:id="rId15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9.xml"/><Relationship Id="rId17" Type="http://schemas.openxmlformats.org/officeDocument/2006/relationships/slide" Target="slides/slide8.xml"/><Relationship Id="rId18" Type="http://schemas.openxmlformats.org/officeDocument/2006/relationships/slide" Target="slides/slide7.xml"/><Relationship Id="rId19" Type="http://schemas.openxmlformats.org/officeDocument/2006/relationships/slide" Target="slides/slide6.xml"/><Relationship Id="rId20" Type="http://schemas.openxmlformats.org/officeDocument/2006/relationships/slide" Target="slides/slide5.xml"/><Relationship Id="rId21" Type="http://schemas.openxmlformats.org/officeDocument/2006/relationships/slide" Target="slides/slide4.xml"/><Relationship Id="rId22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title and say this is Review-2 of our DBMS project. Each member can introduce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the title means: a database-based web application for solar data. Then explain why it is a DBMS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Review-2 is judged on these five points. Our slides follow this order: relevance, literature review, critical analysis, gap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studied four areas. For each, explain the purpose, main features, limitations, and how it relates to our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describe each of the four existing systems. Say that all are useful, but each has some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through each point, then read the conclusion: a simple DBMS-based system is useful for both academic and practical purposes.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last column: only our proposed system covers database storage, calculations, alerts, and reports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systems monitor solar energy or electricity usage, but none combine these six features in a simple DBMS-based solution. That is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project fills the gap with a simple, structured way to manage solar data, and it also demonstrates DBMS syllabus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sources were used for the literature survey and for DBMS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1.png"/><Relationship Id="rId10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5.png"/><Relationship Id="rId5" Type="http://schemas.openxmlformats.org/officeDocument/2006/relationships/image" Target="../media/image7.png"/><Relationship Id="rId6" Type="http://schemas.openxmlformats.org/officeDocument/2006/relationships/image" Target="../media/image22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image" Target="../media/image12.png"/><Relationship Id="rId11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-128016"/>
            <a:ext cx="12228271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pic>
        <p:nvPicPr>
          <p:cNvPr id="3" name="Image 0" descr="/home/claude/work/tpl_assets/klh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848" y="502920"/>
            <a:ext cx="6858000" cy="822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48132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SYSTEMS ENGINEERING AND DISTRIBUTED BACKEND DEVELOPMENT (25CS1302E)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190195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Y25  ·  2026–2027  ·  Trimester 4  ·  Section 13  ·  Team 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51460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SOLAR ENERGY MANAGEMENT AND</a:t>
            </a:r>
            <a:endParaRPr lang="en-US" sz="3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SYSTEM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0" dirty="0" b="1">
                <a:solidFill>
                  <a:srgbClr val="2E75B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Review-2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Subject: Database Management System Project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2520090226  –  Lahari Namala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53492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2520090236  –  K. Keathana Vikashini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57150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2520090234  –  C. Poojitha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43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Times New Roman"/>
              </a:rPr>
              <a:t>Team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Review-2 Rubric Requirements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280160"/>
            <a:ext cx="6309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Times New Roman"/>
              </a:rPr>
              <a:t>Review-2 focuses 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783080"/>
            <a:ext cx="6309360" cy="676656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78408" y="1892807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83080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Relevance to Project Title</a:t>
            </a:r>
          </a:p>
        </p:txBody>
      </p:sp>
      <p:pic>
        <p:nvPicPr>
          <p:cNvPr id="12" name="Picture 11" descr="FaSolarPanel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56816"/>
            <a:ext cx="329184" cy="32918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41248" y="2606040"/>
            <a:ext cx="6309360" cy="67665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78408" y="271576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06040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Depth and Quality of Literature Review</a:t>
            </a:r>
          </a:p>
        </p:txBody>
      </p:sp>
      <p:pic>
        <p:nvPicPr>
          <p:cNvPr id="16" name="Picture 15" descr="FaSearch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779776"/>
            <a:ext cx="329184" cy="32918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41248" y="3429000"/>
            <a:ext cx="6309360" cy="676656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78408" y="3538728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429000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Critical Analysis of Existing Methods</a:t>
            </a:r>
          </a:p>
        </p:txBody>
      </p:sp>
      <p:pic>
        <p:nvPicPr>
          <p:cNvPr id="20" name="Picture 19" descr="FaBalanceScal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602736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41248" y="4251960"/>
            <a:ext cx="6309360" cy="676656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78408" y="4361688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51960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Gap Analysis through Literature Review</a:t>
            </a:r>
          </a:p>
        </p:txBody>
      </p:sp>
      <p:pic>
        <p:nvPicPr>
          <p:cNvPr id="24" name="Picture 23" descr="FaPuzzlePiece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4425696"/>
            <a:ext cx="329184" cy="329184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41248" y="5074920"/>
            <a:ext cx="6309360" cy="676656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78408" y="5184648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074920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Presentation Skills</a:t>
            </a:r>
          </a:p>
        </p:txBody>
      </p:sp>
      <p:pic>
        <p:nvPicPr>
          <p:cNvPr id="28" name="Picture 27" descr="FaUsers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248656"/>
            <a:ext cx="329184" cy="32918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498079" y="1325880"/>
            <a:ext cx="3840480" cy="45720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26679" y="14630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This Review Proves</a:t>
            </a:r>
          </a:p>
        </p:txBody>
      </p:sp>
      <p:sp>
        <p:nvSpPr>
          <p:cNvPr id="31" name="Oval 30"/>
          <p:cNvSpPr/>
          <p:nvPr/>
        </p:nvSpPr>
        <p:spPr>
          <a:xfrm>
            <a:off x="7726679" y="219456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aChe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6407" y="2304288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321040" y="210312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A9D18E"/>
                </a:solidFill>
                <a:latin typeface="Calibri"/>
              </a:rPr>
              <a:t>Why </a:t>
            </a:r>
            <a:r>
              <a:rPr sz="1600" b="0">
                <a:solidFill>
                  <a:srgbClr val="FFFFFF"/>
                </a:solidFill>
                <a:latin typeface="Calibri"/>
              </a:rPr>
              <a:t>our project is relevant</a:t>
            </a:r>
          </a:p>
        </p:txBody>
      </p:sp>
      <p:sp>
        <p:nvSpPr>
          <p:cNvPr id="34" name="Oval 33"/>
          <p:cNvSpPr/>
          <p:nvPr/>
        </p:nvSpPr>
        <p:spPr>
          <a:xfrm>
            <a:off x="7726679" y="310896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aChe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6407" y="3218688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21040" y="301752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A9D18E"/>
                </a:solidFill>
                <a:latin typeface="Calibri"/>
              </a:rPr>
              <a:t>What </a:t>
            </a:r>
            <a:r>
              <a:rPr sz="1600" b="0">
                <a:solidFill>
                  <a:srgbClr val="FFFFFF"/>
                </a:solidFill>
                <a:latin typeface="Calibri"/>
              </a:rPr>
              <a:t>existing systems already provide</a:t>
            </a:r>
          </a:p>
        </p:txBody>
      </p:sp>
      <p:sp>
        <p:nvSpPr>
          <p:cNvPr id="37" name="Oval 36"/>
          <p:cNvSpPr/>
          <p:nvPr/>
        </p:nvSpPr>
        <p:spPr>
          <a:xfrm>
            <a:off x="7726679" y="4023359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Che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6407" y="4133087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21040" y="393192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A9D18E"/>
                </a:solidFill>
                <a:latin typeface="Calibri"/>
              </a:rPr>
              <a:t>Which </a:t>
            </a:r>
            <a:r>
              <a:rPr sz="1600" b="0">
                <a:solidFill>
                  <a:srgbClr val="FFFFFF"/>
                </a:solidFill>
                <a:latin typeface="Calibri"/>
              </a:rPr>
              <a:t>limitations they have</a:t>
            </a:r>
          </a:p>
        </p:txBody>
      </p:sp>
      <p:sp>
        <p:nvSpPr>
          <p:cNvPr id="40" name="Oval 39"/>
          <p:cNvSpPr/>
          <p:nvPr/>
        </p:nvSpPr>
        <p:spPr>
          <a:xfrm>
            <a:off x="7726679" y="4937759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aChe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6407" y="5047488"/>
            <a:ext cx="237744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21040" y="484632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A9D18E"/>
                </a:solidFill>
                <a:latin typeface="Calibri"/>
              </a:rPr>
              <a:t>Why </a:t>
            </a:r>
            <a:r>
              <a:rPr sz="1600" b="0">
                <a:solidFill>
                  <a:srgbClr val="FFFFFF"/>
                </a:solidFill>
                <a:latin typeface="Calibri"/>
              </a:rPr>
              <a:t>our DBMS-based system is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Title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10497312" cy="10058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24128" y="1463040"/>
            <a:ext cx="731520" cy="7315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SolarPan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692" y="1638604"/>
            <a:ext cx="380390" cy="380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65960" y="1325880"/>
            <a:ext cx="91897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2060"/>
                </a:solidFill>
                <a:latin typeface="Calibri"/>
              </a:rPr>
              <a:t>Solar Energy Management and Monitoring System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A database-based web application to store, manage, and monitor solar energy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14600"/>
            <a:ext cx="104973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Times New Roman"/>
              </a:rPr>
              <a:t>What the system handles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926080"/>
            <a:ext cx="134286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261218" y="3044952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SolarPane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919" y="3165652"/>
            <a:ext cx="261518" cy="2615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3611880"/>
            <a:ext cx="119655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/>
              </a:rPr>
              <a:t>Solar Panel Details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66989" y="2926080"/>
            <a:ext cx="134286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2786960" y="3044952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Su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661" y="3165652"/>
            <a:ext cx="261518" cy="26151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40141" y="3611880"/>
            <a:ext cx="119655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/>
              </a:rPr>
              <a:t>Generated Energy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92731" y="2926080"/>
            <a:ext cx="134286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312702" y="3044952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a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3403" y="3165652"/>
            <a:ext cx="261518" cy="26151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965883" y="3611880"/>
            <a:ext cx="119655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/>
              </a:rPr>
              <a:t>Consumed Energy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18473" y="2926080"/>
            <a:ext cx="134286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838444" y="3044952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TachometerAl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9144" y="3165652"/>
            <a:ext cx="261518" cy="26151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91625" y="3611880"/>
            <a:ext cx="119655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/>
              </a:rPr>
              <a:t>Efficiency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4214" y="2926080"/>
            <a:ext cx="134286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7364185" y="3044952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aRupeeSig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4886" y="3165652"/>
            <a:ext cx="261518" cy="26151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17366" y="3611880"/>
            <a:ext cx="119655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/>
              </a:rPr>
              <a:t>Savings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69956" y="2926080"/>
            <a:ext cx="134286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889927" y="3044952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aFileAl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0628" y="3165652"/>
            <a:ext cx="261518" cy="26151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43108" y="3611880"/>
            <a:ext cx="119655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/>
              </a:rPr>
              <a:t>Reports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95698" y="2926080"/>
            <a:ext cx="1342861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415669" y="3044952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aBell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6369" y="3165652"/>
            <a:ext cx="261518" cy="26151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68850" y="3611880"/>
            <a:ext cx="1196557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2060"/>
                </a:solidFill>
                <a:latin typeface="Calibri"/>
              </a:rPr>
              <a:t>Alerts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" y="4389120"/>
            <a:ext cx="10497312" cy="15087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97280" y="44805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Why it is a DBMS Project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4983480"/>
            <a:ext cx="186537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FaTable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1872" y="5175504"/>
            <a:ext cx="347472" cy="3474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737360" y="4983480"/>
            <a:ext cx="113385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Structured Tables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45536" y="4983480"/>
            <a:ext cx="186537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FaDatabase_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0128" y="5175504"/>
            <a:ext cx="347472" cy="3474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785616" y="4983480"/>
            <a:ext cx="113385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SQL Queries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93792" y="4983480"/>
            <a:ext cx="186537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FaLink_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58384" y="5175504"/>
            <a:ext cx="347472" cy="3474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33872" y="4983480"/>
            <a:ext cx="113385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Relationships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42048" y="4983480"/>
            <a:ext cx="186537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3" name="Picture 52" descr="FaFileAlt_g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6640" y="5175504"/>
            <a:ext cx="347472" cy="3474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882128" y="4983480"/>
            <a:ext cx="113385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Reports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90304" y="4983480"/>
            <a:ext cx="186537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FaLayerGroup_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54896" y="5175504"/>
            <a:ext cx="347472" cy="34747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930384" y="4983480"/>
            <a:ext cx="1133856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Calibri"/>
              </a:rPr>
              <a:t>Database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1234440"/>
            <a:ext cx="10497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Calibri"/>
              </a:rPr>
              <a:t>A literature survey was done to understand existing solar energy monitoring and energy management systems.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1783080"/>
          <a:ext cx="10497312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1965960"/>
                <a:gridCol w="1920240"/>
                <a:gridCol w="2057400"/>
                <a:gridCol w="22219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Area Studied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Main Features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Limitations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Relevance to Our Project</a:t>
                      </a:r>
                    </a:p>
                  </a:txBody>
                  <a:tcPr marL="109728" marR="109728" marT="36576" marB="36576" anchor="ctr">
                    <a:solidFill>
                      <a:srgbClr val="2E7D3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Solar Energy Monitoring Dashboards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Show solar generation and usage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Graphs and live power view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No SQL reports or DBMS concepts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E7D32"/>
                          </a:solidFill>
                          <a:latin typeface="Calibri"/>
                        </a:rPr>
                        <a:t>We build a dashboard backed by SQL tables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IoT-Based Solar Monitoring Systems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Collect solar data using sensors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Real-time monitoring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Needs extra hardware and cost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E7D32"/>
                          </a:solidFill>
                          <a:latin typeface="Calibri"/>
                        </a:rPr>
                        <a:t>We focus on storing and processing data without hardware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Energy Consumption Tracking Systems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Track electricity usage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Monthly usage and usage patterns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No focus on solar efficiency or savings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E7D32"/>
                          </a:solidFill>
                          <a:latin typeface="Calibri"/>
                        </a:rPr>
                        <a:t>We add efficiency, savings, and alerts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Database-Based Reporting Systems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Store data and generate reports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Tables, queries, and reports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Calibri"/>
                        </a:rPr>
                        <a:t>Not designed for solar energy data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E7D32"/>
                          </a:solidFill>
                          <a:latin typeface="Calibri"/>
                        </a:rPr>
                        <a:t>We apply database reporting to solar data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5088636" cy="16916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15568" y="1645919"/>
            <a:ext cx="822960" cy="8229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hartB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078" y="1843430"/>
            <a:ext cx="427939" cy="427939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709928" y="1554480"/>
            <a:ext cx="329184" cy="329184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1600200"/>
            <a:ext cx="35798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Solar Monitoring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194560"/>
            <a:ext cx="35798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Displays solar generation and usage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9924" y="1325880"/>
            <a:ext cx="5088636" cy="16916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524244" y="1645919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Microchi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754" y="1843430"/>
            <a:ext cx="427939" cy="427939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7118604" y="1554480"/>
            <a:ext cx="329184" cy="329184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1524" y="1600200"/>
            <a:ext cx="35798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IoT-Based Solar Monitoring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1524" y="2194560"/>
            <a:ext cx="35798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Uses sensors or microcontrollers to collect solar energy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291839"/>
            <a:ext cx="5088636" cy="169164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115568" y="3611879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Plu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3078" y="3809390"/>
            <a:ext cx="427939" cy="427939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1709928" y="3520439"/>
            <a:ext cx="329184" cy="329184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3566159"/>
            <a:ext cx="35798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Energy Consumption Tracking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4160520"/>
            <a:ext cx="35798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Tracks electricity usage and consumption patterns.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9924" y="3291839"/>
            <a:ext cx="5088636" cy="16916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524244" y="3611879"/>
            <a:ext cx="822960" cy="82296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a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754" y="3809390"/>
            <a:ext cx="427939" cy="427939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7118604" y="3520439"/>
            <a:ext cx="329184" cy="329184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1524" y="3566159"/>
            <a:ext cx="35798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Database Reporting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1524" y="4160520"/>
            <a:ext cx="35798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Stores data and generates reports using database queries.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5166360"/>
            <a:ext cx="1049731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024128" y="5294376"/>
            <a:ext cx="475488" cy="47548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ExclamationTriangl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245" y="5408493"/>
            <a:ext cx="247253" cy="24725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737360" y="5166360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These systems are useful, but each has some limitations.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Analysis of Existing Methods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78408" y="1504188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hartB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03" y="1627083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73352" y="1325880"/>
            <a:ext cx="4142231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libri"/>
              </a:rPr>
              <a:t>Solar Dashboards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Show data but may not focus on DBMS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325880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64224" y="1504188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Microchi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119" y="1627083"/>
            <a:ext cx="266273" cy="2662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59167" y="1325880"/>
            <a:ext cx="4142231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libri"/>
              </a:rPr>
              <a:t>IoT Systems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Real-time monitoring, but may need additional hardware.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359152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78408" y="2537460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Plu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303" y="2660355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3352" y="2359152"/>
            <a:ext cx="4142231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libri"/>
              </a:rPr>
              <a:t>Energy Tracking Systems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Monitor usage but may not focus on solar efficiency.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359152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364224" y="2537460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FileAl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7119" y="2660355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59167" y="2359152"/>
            <a:ext cx="4142231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libri"/>
              </a:rPr>
              <a:t>Reports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Some systems do not provide simple SQL-based reports.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392424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78408" y="3570732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Bel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303" y="3693627"/>
            <a:ext cx="266273" cy="26627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73352" y="3392424"/>
            <a:ext cx="4142231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libri"/>
              </a:rPr>
              <a:t>Alerts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Some systems do not generate low-efficiency alerts.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3392424"/>
            <a:ext cx="5111496" cy="86868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64224" y="3570732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RupeeSign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7119" y="3693627"/>
            <a:ext cx="266273" cy="26627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59167" y="3392424"/>
            <a:ext cx="4142231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libri"/>
              </a:rPr>
              <a:t>Cost and Complexity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Some systems are complex or costly for small-scale users.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4572000"/>
            <a:ext cx="10497312" cy="132588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051560" y="48691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CheckCircle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7124" y="5044744"/>
            <a:ext cx="380390" cy="38039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103120" y="4572000"/>
            <a:ext cx="90342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Therefore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 simple DBMS-based solar monitoring system is useful for academic and practical purposes.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Table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280160"/>
          <a:ext cx="10497312" cy="44439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1828800"/>
                <a:gridCol w="1828800"/>
                <a:gridCol w="1828800"/>
                <a:gridCol w="1901952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Solar Dashboard System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IoT-Based Monitoring System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Energy Tracking System</a:t>
                      </a:r>
                    </a:p>
                  </a:txBody>
                  <a:tcPr marL="109728" marR="109728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Our Proposed System</a:t>
                      </a:r>
                    </a:p>
                  </a:txBody>
                  <a:tcPr marL="109728" marR="109728" marT="36576" marB="36576" anchor="ctr">
                    <a:solidFill>
                      <a:srgbClr val="2E7D3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Stores solar panel details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Stores daily energy readings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Calculates energy balance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Calculates efficiency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Calculates savings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Generates low-efficiency alerts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Uses SQL database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Provides reports using queries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7F7F7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2060"/>
                          </a:solidFill>
                          <a:latin typeface="Calibri"/>
                        </a:rPr>
                        <a:t>Easy to understand and use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✔ Yes</a:t>
                      </a:r>
                    </a:p>
                  </a:txBody>
                  <a:tcPr marL="109728" marR="10972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5870448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Based on common features of typical systems in each category.  Partial = available in some systems or in a limited 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10497312" cy="96012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24128" y="1481328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747" y="1634947"/>
            <a:ext cx="332841" cy="3328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325880"/>
            <a:ext cx="93268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alibri"/>
              </a:rPr>
              <a:t>Existing systems monitor solar energy or electricity usage, but many do not provide a simple DBMS-based solution that combines: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514600"/>
            <a:ext cx="33162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78408" y="2642616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SolarPane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275234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72768" y="2514600"/>
            <a:ext cx="24475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Structured solar panel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1792" y="2514600"/>
            <a:ext cx="33162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568952" y="2642616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8680" y="275234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63312" y="2514600"/>
            <a:ext cx="24475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Daily energy reading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2336" y="2514600"/>
            <a:ext cx="33162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159496" y="2642616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TachometerAl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9224" y="275234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53856" y="2514600"/>
            <a:ext cx="24475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Efficiency calculation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383280"/>
            <a:ext cx="33162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78408" y="3511296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RupeeSig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6" y="3621024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72768" y="3383280"/>
            <a:ext cx="24475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Savings calculation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1792" y="3383280"/>
            <a:ext cx="33162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568952" y="3511296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aBel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8680" y="3621024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63312" y="3383280"/>
            <a:ext cx="24475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Low-efficiency alert generation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2336" y="3383280"/>
            <a:ext cx="3316224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159496" y="3511296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FileAl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9224" y="3621024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53856" y="3383280"/>
            <a:ext cx="24475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SQL-based reports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4389120"/>
            <a:ext cx="10497312" cy="15087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051560" y="47777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PuzzlePiece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7124" y="4953304"/>
            <a:ext cx="380390" cy="38039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103120" y="4389120"/>
            <a:ext cx="9034272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Identified Need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This gap creates the need for a database-driven solar energy management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Our Project Is Needed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10497312" cy="6858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7280" y="13258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Calibri"/>
              </a:rPr>
              <a:t>It provides a simple and structured way to manage solar energy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240280"/>
            <a:ext cx="6492240" cy="78638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78408" y="2377440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03" y="2500335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73352" y="2240280"/>
            <a:ext cx="552297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Stores panel and reading details in a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172968"/>
            <a:ext cx="6492240" cy="78638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78408" y="3310128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Calculato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303" y="3433023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73352" y="3172968"/>
            <a:ext cx="552297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Calculates generated energy, consumed energy, energy balance, efficiency, and savings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05656"/>
            <a:ext cx="6492240" cy="78638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78408" y="4242816"/>
            <a:ext cx="512064" cy="51206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aBel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303" y="436571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73352" y="4105656"/>
            <a:ext cx="552297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Generates alerts when efficiency is below 60%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038344"/>
            <a:ext cx="6492240" cy="78638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78408" y="5175504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aChartBa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303" y="529839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73352" y="5038344"/>
            <a:ext cx="552297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Calibri"/>
              </a:rPr>
              <a:t>Displays dashboard and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2240280"/>
            <a:ext cx="3749039" cy="36576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818120" y="23317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imes New Roman"/>
              </a:rPr>
              <a:t>DBMS Syllabus Concepts</a:t>
            </a:r>
          </a:p>
        </p:txBody>
      </p:sp>
      <p:sp>
        <p:nvSpPr>
          <p:cNvPr id="28" name="Oval 27"/>
          <p:cNvSpPr/>
          <p:nvPr/>
        </p:nvSpPr>
        <p:spPr>
          <a:xfrm>
            <a:off x="7818120" y="288036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aTabl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902" y="2968142"/>
            <a:ext cx="190195" cy="19019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339327" y="28803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Tables</a:t>
            </a:r>
          </a:p>
        </p:txBody>
      </p:sp>
      <p:sp>
        <p:nvSpPr>
          <p:cNvPr id="31" name="Oval 30"/>
          <p:cNvSpPr/>
          <p:nvPr/>
        </p:nvSpPr>
        <p:spPr>
          <a:xfrm>
            <a:off x="7818120" y="335584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aKey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902" y="3443630"/>
            <a:ext cx="190195" cy="19019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339327" y="33558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Primary Keys</a:t>
            </a:r>
          </a:p>
        </p:txBody>
      </p:sp>
      <p:sp>
        <p:nvSpPr>
          <p:cNvPr id="34" name="Oval 33"/>
          <p:cNvSpPr/>
          <p:nvPr/>
        </p:nvSpPr>
        <p:spPr>
          <a:xfrm>
            <a:off x="7818120" y="3831335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aLink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902" y="3919118"/>
            <a:ext cx="190195" cy="19019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39327" y="3831335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Relationships</a:t>
            </a:r>
          </a:p>
        </p:txBody>
      </p:sp>
      <p:sp>
        <p:nvSpPr>
          <p:cNvPr id="37" name="Oval 36"/>
          <p:cNvSpPr/>
          <p:nvPr/>
        </p:nvSpPr>
        <p:spPr>
          <a:xfrm>
            <a:off x="7818120" y="4306824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a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902" y="4394606"/>
            <a:ext cx="190195" cy="19019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39327" y="43068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SQL Queries</a:t>
            </a:r>
          </a:p>
        </p:txBody>
      </p:sp>
      <p:sp>
        <p:nvSpPr>
          <p:cNvPr id="40" name="Oval 39"/>
          <p:cNvSpPr/>
          <p:nvPr/>
        </p:nvSpPr>
        <p:spPr>
          <a:xfrm>
            <a:off x="7818120" y="478231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aExchangeAl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902" y="4870094"/>
            <a:ext cx="190195" cy="19019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39327" y="47823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Joins</a:t>
            </a:r>
          </a:p>
        </p:txBody>
      </p:sp>
      <p:sp>
        <p:nvSpPr>
          <p:cNvPr id="43" name="Oval 42"/>
          <p:cNvSpPr/>
          <p:nvPr/>
        </p:nvSpPr>
        <p:spPr>
          <a:xfrm>
            <a:off x="7818120" y="525780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aFileAlt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5902" y="5345582"/>
            <a:ext cx="190195" cy="19019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339327" y="52578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84048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6477610"/>
            <a:ext cx="12191695" cy="393192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7610"/>
            <a:ext cx="917417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B.Tech II Year | Dept of CSIT | Database Systems Engineering (25CS1302E) | Project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85855" y="6172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7" name="Image 0" descr="/home/claude/work/tpl_assets/klh_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73152"/>
            <a:ext cx="1463040" cy="5415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1325880"/>
            <a:ext cx="10497312" cy="78638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78408" y="149047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325880"/>
            <a:ext cx="2331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Solar Energy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325880"/>
            <a:ext cx="7178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S. R. Madeti and S. N. Singh, “Monitoring system for photovoltaic plants: A review,” Renewable and Sustainable Energy Reviews, vol. 67, 2017.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240280"/>
            <a:ext cx="10497312" cy="78638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78408" y="2404872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240280"/>
            <a:ext cx="2331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IoT-Based Solar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240280"/>
            <a:ext cx="7178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A. S. Spanias, “Solar energy management as an Internet of Things (IoT) application,” IEEE IISA Conference, 2017.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154680"/>
            <a:ext cx="10497312" cy="78638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78408" y="331927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154680"/>
            <a:ext cx="2331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Energy Management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154680"/>
            <a:ext cx="7178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M. Beaudin and H. Zareipour, “Home energy management systems: A review of modelling and complexity,” Renewable and Sustainable Energy Reviews, vol. 45, 2015.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069080"/>
            <a:ext cx="10497312" cy="786384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78408" y="4233672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069080"/>
            <a:ext cx="2331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DBMS Concepts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069080"/>
            <a:ext cx="7178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A. Silberschatz, H. F. Korth, and S. Sudarshan, Database System Concepts, 7th ed., McGraw-Hill, 2019.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983480"/>
            <a:ext cx="10497312" cy="786384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78408" y="5148072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983480"/>
            <a:ext cx="2331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SQL Database 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4983480"/>
            <a:ext cx="71780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SQLite, “SQLite Documentation,” sqlite.org/docs.html, accessed 29 September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2026-09-02T06:07:17Z</dcterms:created>
  <dcterms:modified xsi:type="dcterms:W3CDTF">2026-09-02T06:07:17Z</dcterms:modified>
</cp:coreProperties>
</file>