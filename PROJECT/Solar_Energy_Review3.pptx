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72" r:id="rId23"/>
    <p:sldId id="271" r:id="rId22"/>
    <p:sldId id="270" r:id="rId21"/>
    <p:sldId id="269" r:id="rId20"/>
    <p:sldId id="268" r:id="rId19"/>
    <p:sldId id="267" r:id="rId18"/>
    <p:sldId id="266" r:id="rId17"/>
    <p:sldId id="265" r:id="rId16"/>
    <p:sldId id="264" r:id="rId15"/>
    <p:sldId id="273" r:id="rId24"/>
    <p:sldId id="274" r:id="rId2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1.xml"/><Relationship Id="rId16" Type="http://schemas.openxmlformats.org/officeDocument/2006/relationships/slide" Target="slides/slide10.xml"/><Relationship Id="rId17" Type="http://schemas.openxmlformats.org/officeDocument/2006/relationships/slide" Target="slides/slide9.xml"/><Relationship Id="rId18" Type="http://schemas.openxmlformats.org/officeDocument/2006/relationships/slide" Target="slides/slide8.xml"/><Relationship Id="rId19" Type="http://schemas.openxmlformats.org/officeDocument/2006/relationships/slide" Target="slides/slide7.xml"/><Relationship Id="rId20" Type="http://schemas.openxmlformats.org/officeDocument/2006/relationships/slide" Target="slides/slide6.xml"/><Relationship Id="rId21" Type="http://schemas.openxmlformats.org/officeDocument/2006/relationships/slide" Target="slides/slide5.xml"/><Relationship Id="rId22" Type="http://schemas.openxmlformats.org/officeDocument/2006/relationships/slide" Target="slides/slide4.xml"/><Relationship Id="rId23" Type="http://schemas.openxmlformats.org/officeDocument/2006/relationships/slide" Target="slides/slide3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and say this is Review-3: methodology, algorithm, formulas, database design, and working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5 to 8: connect to the database, apply formulas, test with sample data, and show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each step in one or two lines. The green tag shows the DBMS concept used in that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numbers: top row left to right, then bottom row right to left. Green boxes are the core DBMS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algorithm name and type. Steps 6 to 9 are calculations; steps 10 to 12 are the alert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formula, then use the Farm Array C reading from 26 Sept to show how the alert is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column top to bottom, then the right column. The diamond is the 60%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on port 5500, backend on port 8000, SQLite stores all tables. Swagger at /docs tests the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tables, each with a primary key. Child tables link to parents through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 shows today's totals, panel efficiency, open alerts, and maintenance. Solar Panels page adds panels; expected/day = capacity × sunlight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Readings stores daily data and shows efficiency, balance, and savings. Reports give daily, monthly, panel-wise, and user-wise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Alerts come from the 60% rule. Maintenance records are linked to panels; Users page shows panel count per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Dissemination is how our output is shared and displayed. Accessibility is how easily users can reach and use the system. End with the final point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-128016"/>
            <a:ext cx="12228271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pic>
        <p:nvPicPr>
          <p:cNvPr id="3" name="Image 0" descr="/home/claude/work/tpl_assets/klh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502920"/>
            <a:ext cx="6858000" cy="82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8132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SYSTEMS ENGINEERING AND DISTRIBUTED BACKEND DEVELOPMENT (25CS1302E)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9019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Y25  ·  2026–2027  ·  Trimester 4  ·  Section 13  ·  Team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ENERGY MANAGEMENT AND</a:t>
            </a:r>
            <a:endParaRPr lang="en-US" sz="3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0" dirty="0" b="1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Review-3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Subject: Database Management System Project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2520090226  –  Lahari Namala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3492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2520090236  –  K. Keathana Vikashini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7150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2520090234  –  C. Poojitha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Times New Roman"/>
              </a:rPr>
              <a:t>Team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 (1/2)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188720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Methodology: </a:t>
            </a:r>
            <a:r>
              <a:rPr sz="1700" b="1">
                <a:solidFill>
                  <a:srgbClr val="002060"/>
                </a:solidFill>
                <a:latin typeface="Calibri"/>
              </a:rPr>
              <a:t>DBMS-Based Full Stack Development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1887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595959"/>
                </a:solidFill>
                <a:latin typeface="Calibri"/>
              </a:rPr>
              <a:t>DBMS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691640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05840" y="1901952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783080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Requirement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148840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User details, panel details, generated and consumed energy, efficiency, savings,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96596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  <a:latin typeface="Calibri"/>
              </a:rPr>
              <a:t>Data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770632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005840" y="2980944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86207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Database Design using ER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227832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Tables: users, solar_panels, energy_readings, alerts, maintenance, reports; identify PKs, FKs, and relationships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044952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0" y="304495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E7D32"/>
                </a:solidFill>
                <a:latin typeface="Calibri"/>
              </a:rPr>
              <a:t>ER model, PK &amp; FK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849624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005840" y="4059936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941063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Frontend Page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306824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Home, Login/Register, Dashboard, Solar Panel Details, Energy Entry, Reports,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123944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0" y="412394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  <a:latin typeface="Calibri"/>
              </a:rPr>
              <a:t>Data entry forms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928616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05840" y="5138928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02005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Backend API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385816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APIs to insert, update, fetch, and delete project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5202936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0" y="520293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E7D32"/>
                </a:solidFill>
                <a:latin typeface="Calibri"/>
              </a:rPr>
              <a:t>CRUD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 (2/2)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188720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Methodology: </a:t>
            </a:r>
            <a:r>
              <a:rPr sz="1700" b="1">
                <a:solidFill>
                  <a:srgbClr val="002060"/>
                </a:solidFill>
                <a:latin typeface="Calibri"/>
              </a:rPr>
              <a:t>DBMS-Based Full Stack Development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1887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595959"/>
                </a:solidFill>
                <a:latin typeface="Calibri"/>
              </a:rPr>
              <a:t>DBMS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691640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05840" y="1901952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783080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Database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148840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Connect backend APIs with the SQL database to store and retrieve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96596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  <a:latin typeface="Calibri"/>
              </a:rPr>
              <a:t>SQL INSERT &amp; SELECT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770632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005840" y="2980944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86207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Energy Calculation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227832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Calculate energy balance, expected energy, efficiency, and savings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044952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0" y="304495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E7D32"/>
                </a:solidFill>
                <a:latin typeface="Calibri"/>
              </a:rPr>
              <a:t>Derived attributes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849624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005840" y="4059936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941063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Testing with Sample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306824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Test database records, formulas, API responses, reports, and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123944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0" y="412394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  <a:latin typeface="Calibri"/>
              </a:rPr>
              <a:t>Data 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928616"/>
            <a:ext cx="10497312" cy="9326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05840" y="5138928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02005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Dashboard and Report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385816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Display calculated values, reports, and alerts on the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5202936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0" y="520293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2E7D32"/>
                </a:solidFill>
                <a:latin typeface="Calibri"/>
              </a:rPr>
              <a:t>SUM, AVG, GROUP BY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Flow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1_methodology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325880"/>
            <a:ext cx="10497312" cy="43360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188720"/>
            <a:ext cx="5760720" cy="4754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Title: </a:t>
            </a:r>
            <a:r>
              <a:rPr sz="1400" b="1">
                <a:solidFill>
                  <a:srgbClr val="002060"/>
                </a:solidFill>
                <a:latin typeface="Calibri"/>
              </a:rPr>
              <a:t>Solar Energy Monitoring and Alert Generation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188720"/>
            <a:ext cx="4553712" cy="4754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49440" y="1188720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Type: </a:t>
            </a:r>
            <a:r>
              <a:rPr sz="1400" b="1">
                <a:solidFill>
                  <a:srgbClr val="002060"/>
                </a:solidFill>
                <a:latin typeface="Calibri"/>
              </a:rPr>
              <a:t>Rule-Based Calculation and Alert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810512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188366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1810512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414016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2688" y="2487168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2414016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User logs into the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017520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3090672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3017520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Add panel details: name, location, capacity, sunlight hours, cost per unit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621024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688" y="3694176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3621024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Enter daily generated energy and consumed energy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224528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297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" y="4224528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Store panel and reading data in SQL 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828032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32688" y="4901184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4828032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Energy Balance = Energy Generated − Energy Consumed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5431536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32688" y="5504688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8" y="5431536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Expected Energy = Panel Capacity × Sunlight Hours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7064" y="1810512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318503" y="1883664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1424" y="1810512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Efficiency (%) = Actual Energy Generated ÷ Expected Energy × 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2414016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18503" y="2487168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1424" y="2414016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Savings = Energy Generated × Cost per Unit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3017520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318503" y="309067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1424" y="3017520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Check efficiency value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7064" y="3621024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318503" y="369417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21424" y="3621024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If efficiency &lt; 60%, generate low-efficiency alert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7064" y="4224528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318503" y="4297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21424" y="4224528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If efficiency ≥ 60%, mark panel status as normal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7064" y="4828032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18503" y="4901184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1424" y="4828032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Display dashboard, reports, and alerts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7064" y="5431536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6318503" y="55046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21424" y="5431536"/>
            <a:ext cx="44256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Formulas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32232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69848" y="1463039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Energy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28800"/>
            <a:ext cx="27660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Energy Generated − Energy Consumed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3108" y="1325880"/>
            <a:ext cx="32232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21708" y="1463039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Expected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708" y="1828800"/>
            <a:ext cx="27660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Panel Capacity × Sunlight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697480"/>
            <a:ext cx="32232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69848" y="2834640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Efficiency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200400"/>
            <a:ext cx="27660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Actual Energy Generated ÷ Expected Energy ×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3108" y="2697480"/>
            <a:ext cx="32232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21708" y="2834640"/>
            <a:ext cx="27660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708" y="3200400"/>
            <a:ext cx="27660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Energy Generated × Cost per 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114800"/>
            <a:ext cx="6675120" cy="10515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24128" y="4315968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Bell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47" y="4469587"/>
            <a:ext cx="332841" cy="33284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74519" y="4114800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5E0B4"/>
                </a:solidFill>
                <a:latin typeface="Calibri"/>
              </a:rPr>
              <a:t>Alert Rule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If Efficiency &lt; 60%, generate Low-Efficiency Alert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349240"/>
            <a:ext cx="6675120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78408" y="542239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68" y="5518952"/>
            <a:ext cx="209214" cy="20921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36192" y="5349240"/>
            <a:ext cx="586130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DBMS / CO link:  </a:t>
            </a:r>
            <a:r>
              <a:rPr sz="1500" b="0">
                <a:solidFill>
                  <a:srgbClr val="002060"/>
                </a:solidFill>
                <a:latin typeface="Calibri"/>
              </a:rPr>
              <a:t>Calculated values are stored in the energy_readings 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32588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46720" y="144475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Example from Our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8470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BDD7EE"/>
                </a:solidFill>
                <a:latin typeface="Calibri"/>
              </a:rPr>
              <a:t>Farm Array C · 26 Sept · 10 kW · 6 h · ₹6.5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286000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83879" y="22860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9D18E"/>
                </a:solidFill>
                <a:latin typeface="Calibri"/>
              </a:rPr>
              <a:t>Energy Balance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35 − 30 = +5 kWh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990088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83879" y="2990088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9D18E"/>
                </a:solidFill>
                <a:latin typeface="Calibri"/>
              </a:rPr>
              <a:t>Expected Energy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10 × 6 = 60 kWh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694176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183879" y="3694176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9D18E"/>
                </a:solidFill>
                <a:latin typeface="Calibri"/>
              </a:rPr>
              <a:t>Efficiency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35 ÷ 60 × 100 = 58.33%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398264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183879" y="439826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9D18E"/>
                </a:solidFill>
                <a:latin typeface="Calibri"/>
              </a:rPr>
              <a:t>Savings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35 × ₹6.5 = ₹227.5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5102352"/>
            <a:ext cx="3063240" cy="5943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83879" y="5102352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2F0D9"/>
                </a:solidFill>
                <a:latin typeface="Calibri"/>
              </a:rPr>
              <a:t>Result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58.33% &lt; 60% →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Flowchart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2_algorithm_flowchart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091" y="1188720"/>
            <a:ext cx="1006362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3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188720"/>
            <a:ext cx="10497312" cy="4877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 / ER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4_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8366346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89306" y="1325880"/>
            <a:ext cx="2451005" cy="45720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72186" y="1417320"/>
            <a:ext cx="208524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Times New Roman"/>
              </a:rPr>
              <a:t>Relationships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186" y="1965960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346" y="2011679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346" y="230428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User → Solar Panels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186" y="2834639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346" y="2880359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346" y="317296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Solar Panel → Energy Readings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186" y="3703320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346" y="3749039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0..1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346" y="404164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Energy Reading →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186" y="4572000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09346" y="4617720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346" y="491032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Solar Panel →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Screens (1/3)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z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280160"/>
            <a:ext cx="5088636" cy="3334362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" y="4687674"/>
            <a:ext cx="5088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Home Dashboard</a:t>
            </a:r>
            <a:r>
              <a:rPr sz="1400" b="1">
                <a:solidFill>
                  <a:srgbClr val="1F4E79"/>
                </a:solidFill>
                <a:latin typeface="Calibri"/>
              </a:rPr>
              <a:t>   ·   SELECT with SUM</a:t>
            </a:r>
          </a:p>
        </p:txBody>
      </p:sp>
      <p:pic>
        <p:nvPicPr>
          <p:cNvPr id="10" name="Picture 9" descr="z_pan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924" y="1280160"/>
            <a:ext cx="5088636" cy="3042689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49924" y="4396001"/>
            <a:ext cx="5088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Solar Panels</a:t>
            </a:r>
            <a:r>
              <a:rPr sz="1400" b="1">
                <a:solidFill>
                  <a:srgbClr val="2E7D32"/>
                </a:solidFill>
                <a:latin typeface="Calibri"/>
              </a:rPr>
              <a:t>   ·   INSERT, UPDATE, DELETE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Screens (2/3)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z_read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280160"/>
            <a:ext cx="5088636" cy="32214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" y="4574712"/>
            <a:ext cx="5088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Energy Readings</a:t>
            </a:r>
            <a:r>
              <a:rPr sz="1400" b="1">
                <a:solidFill>
                  <a:srgbClr val="1F4E79"/>
                </a:solidFill>
                <a:latin typeface="Calibri"/>
              </a:rPr>
              <a:t>   ·   INSERT + SELECT</a:t>
            </a:r>
          </a:p>
        </p:txBody>
      </p:sp>
      <p:pic>
        <p:nvPicPr>
          <p:cNvPr id="10" name="Picture 9" descr="z_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924" y="1280160"/>
            <a:ext cx="5088636" cy="3349534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49924" y="4702846"/>
            <a:ext cx="5088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Reports</a:t>
            </a:r>
            <a:r>
              <a:rPr sz="1400" b="1">
                <a:solidFill>
                  <a:srgbClr val="2E7D32"/>
                </a:solidFill>
                <a:latin typeface="Calibri"/>
              </a:rPr>
              <a:t>   ·   SUM, AVG, GROUP BY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Screens (3/3)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z_ale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280160"/>
            <a:ext cx="5088636" cy="3353685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" y="4706997"/>
            <a:ext cx="5088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Alerts</a:t>
            </a:r>
            <a:r>
              <a:rPr sz="1400" b="1">
                <a:solidFill>
                  <a:srgbClr val="1F4E79"/>
                </a:solidFill>
                <a:latin typeface="Calibri"/>
              </a:rPr>
              <a:t>   ·   UPDATE status</a:t>
            </a:r>
          </a:p>
        </p:txBody>
      </p:sp>
      <p:pic>
        <p:nvPicPr>
          <p:cNvPr id="10" name="Picture 9" descr="z_ma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924" y="1280160"/>
            <a:ext cx="5088636" cy="2070493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49924" y="3423805"/>
            <a:ext cx="5088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Maintenance</a:t>
            </a:r>
            <a:r>
              <a:rPr sz="1400" b="1">
                <a:solidFill>
                  <a:srgbClr val="2E7D32"/>
                </a:solidFill>
                <a:latin typeface="Calibri"/>
              </a:rPr>
              <a:t>   ·   INSERT + SUM(cost)</a:t>
            </a:r>
          </a:p>
        </p:txBody>
      </p:sp>
      <p:pic>
        <p:nvPicPr>
          <p:cNvPr id="12" name="Picture 11" descr="z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924" y="3794760"/>
            <a:ext cx="5088636" cy="1729308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249924" y="5597220"/>
            <a:ext cx="5088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/>
              </a:rPr>
              <a:t>Users</a:t>
            </a:r>
            <a:r>
              <a:rPr sz="1400" b="1">
                <a:solidFill>
                  <a:srgbClr val="1F4E79"/>
                </a:solidFill>
                <a:latin typeface="Calibri"/>
              </a:rPr>
              <a:t>   ·   JOIN + 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Dissemination and Accessibility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41248" y="121615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hartB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325880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176" y="1188720"/>
            <a:ext cx="4544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Times New Roman"/>
              </a:rPr>
              <a:t>Dissemination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481328"/>
            <a:ext cx="4544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How the project output is shared or displayed to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847088"/>
            <a:ext cx="5111496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198424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47088"/>
            <a:ext cx="44714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Dashboard Page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Generated, consumed, balance, savings, efficiency,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532888"/>
            <a:ext cx="5111496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2688" y="267004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32888"/>
            <a:ext cx="44714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Reports Page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Daily, monthly, panel-wise, and user-wise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218688"/>
            <a:ext cx="5111496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335584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18688"/>
            <a:ext cx="44714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Alerts Page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Low-efficiency alerts when efficiency is below 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904487"/>
            <a:ext cx="5111496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688" y="404164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04487"/>
            <a:ext cx="44714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Charts and Tables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Energy data in easy-to-understand tables and 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590288"/>
            <a:ext cx="5111496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72744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90288"/>
            <a:ext cx="44714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API Documentation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Backend APIs checked using Swagger / OpenAPI</a:t>
            </a:r>
          </a:p>
        </p:txBody>
      </p:sp>
      <p:sp>
        <p:nvSpPr>
          <p:cNvPr id="27" name="Oval 26"/>
          <p:cNvSpPr/>
          <p:nvPr/>
        </p:nvSpPr>
        <p:spPr>
          <a:xfrm>
            <a:off x="6227064" y="121615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a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325880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93992" y="1188720"/>
            <a:ext cx="4544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2E7D32"/>
                </a:solidFill>
                <a:latin typeface="Times New Roman"/>
              </a:rPr>
              <a:t>Accessibility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1481328"/>
            <a:ext cx="4544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How easily users can access and use the system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064" y="1847088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318503" y="1938528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1847088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Web-Based Interface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Access the system through a browser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7064" y="2414016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18503" y="2505456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7416" y="2414016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Simple Navigation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Dashboard, Solar Panels, Energy Readings, Reports, 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7064" y="2980944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318503" y="3072384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7416" y="2980944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Easy Data Entry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Simple forms for panel details and daily readings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7064" y="3547872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18503" y="3639312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6" y="3547872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Clear Output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Balance, efficiency, savings, and alerts shown clearly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7064" y="4114800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6318503" y="4206240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7416" y="4114800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Local System Access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Frontend on port 5500, backend on port 8000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27064" y="4681728"/>
            <a:ext cx="5111496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6318503" y="4773168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4681728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002060"/>
                </a:solidFill>
                <a:latin typeface="Calibri"/>
              </a:rPr>
              <a:t>Future Accessibility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Online deployment using Docker or cloud hosting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5349240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987552" y="5449824"/>
            <a:ext cx="438912" cy="43891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FaCheck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890" y="5555162"/>
            <a:ext cx="228234" cy="2282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600200" y="53492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This makes the project easy to demonstrate, easy to understand, and accessible for users and faculty during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2026-09-02T06:07:17Z</dcterms:created>
  <dcterms:modified xsi:type="dcterms:W3CDTF">2026-09-02T06:07:17Z</dcterms:modified>
</cp:coreProperties>
</file>