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4"/>
    <p:sldId id="288" r:id="rId39"/>
    <p:sldId id="287" r:id="rId38"/>
    <p:sldId id="286" r:id="rId37"/>
    <p:sldId id="285" r:id="rId36"/>
    <p:sldId id="284" r:id="rId35"/>
    <p:sldId id="283" r:id="rId34"/>
    <p:sldId id="282" r:id="rId33"/>
    <p:sldId id="281" r:id="rId32"/>
    <p:sldId id="280" r:id="rId31"/>
    <p:sldId id="279" r:id="rId30"/>
    <p:sldId id="278" r:id="rId29"/>
    <p:sldId id="277" r:id="rId28"/>
    <p:sldId id="276" r:id="rId27"/>
    <p:sldId id="275" r:id="rId26"/>
    <p:sldId id="274" r:id="rId25"/>
    <p:sldId id="273" r:id="rId24"/>
    <p:sldId id="272" r:id="rId23"/>
    <p:sldId id="271" r:id="rId22"/>
    <p:sldId id="270" r:id="rId21"/>
    <p:sldId id="269" r:id="rId20"/>
    <p:sldId id="268" r:id="rId19"/>
    <p:sldId id="267" r:id="rId18"/>
    <p:sldId id="266" r:id="rId17"/>
    <p:sldId id="265" r:id="rId16"/>
    <p:sldId id="264" r:id="rId15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27.xml"/><Relationship Id="rId16" Type="http://schemas.openxmlformats.org/officeDocument/2006/relationships/slide" Target="slides/slide26.xml"/><Relationship Id="rId17" Type="http://schemas.openxmlformats.org/officeDocument/2006/relationships/slide" Target="slides/slide25.xml"/><Relationship Id="rId18" Type="http://schemas.openxmlformats.org/officeDocument/2006/relationships/slide" Target="slides/slide24.xml"/><Relationship Id="rId19" Type="http://schemas.openxmlformats.org/officeDocument/2006/relationships/slide" Target="slides/slide23.xml"/><Relationship Id="rId20" Type="http://schemas.openxmlformats.org/officeDocument/2006/relationships/slide" Target="slides/slide22.xml"/><Relationship Id="rId21" Type="http://schemas.openxmlformats.org/officeDocument/2006/relationships/slide" Target="slides/slide21.xml"/><Relationship Id="rId22" Type="http://schemas.openxmlformats.org/officeDocument/2006/relationships/slide" Target="slides/slide20.xml"/><Relationship Id="rId23" Type="http://schemas.openxmlformats.org/officeDocument/2006/relationships/slide" Target="slides/slide19.xml"/><Relationship Id="rId24" Type="http://schemas.openxmlformats.org/officeDocument/2006/relationships/slide" Target="slides/slide18.xml"/><Relationship Id="rId25" Type="http://schemas.openxmlformats.org/officeDocument/2006/relationships/slide" Target="slides/slide17.xml"/><Relationship Id="rId26" Type="http://schemas.openxmlformats.org/officeDocument/2006/relationships/slide" Target="slides/slide16.xml"/><Relationship Id="rId27" Type="http://schemas.openxmlformats.org/officeDocument/2006/relationships/slide" Target="slides/slide15.xml"/><Relationship Id="rId28" Type="http://schemas.openxmlformats.org/officeDocument/2006/relationships/slide" Target="slides/slide14.xml"/><Relationship Id="rId29" Type="http://schemas.openxmlformats.org/officeDocument/2006/relationships/slide" Target="slides/slide13.xml"/><Relationship Id="rId30" Type="http://schemas.openxmlformats.org/officeDocument/2006/relationships/slide" Target="slides/slide12.xml"/><Relationship Id="rId31" Type="http://schemas.openxmlformats.org/officeDocument/2006/relationships/slide" Target="slides/slide11.xml"/><Relationship Id="rId32" Type="http://schemas.openxmlformats.org/officeDocument/2006/relationships/slide" Target="slides/slide10.xml"/><Relationship Id="rId33" Type="http://schemas.openxmlformats.org/officeDocument/2006/relationships/slide" Target="slides/slide9.xml"/><Relationship Id="rId34" Type="http://schemas.openxmlformats.org/officeDocument/2006/relationships/slide" Target="slides/slide8.xml"/><Relationship Id="rId35" Type="http://schemas.openxmlformats.org/officeDocument/2006/relationships/slide" Target="slides/slide7.xml"/><Relationship Id="rId36" Type="http://schemas.openxmlformats.org/officeDocument/2006/relationships/slide" Target="slides/slide6.xml"/><Relationship Id="rId37" Type="http://schemas.openxmlformats.org/officeDocument/2006/relationships/slide" Target="slides/slide5.xml"/><Relationship Id="rId38" Type="http://schemas.openxmlformats.org/officeDocument/2006/relationships/slide" Target="slides/slide4.xml"/><Relationship Id="rId3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the project title and the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main problem, then the four issues it causes.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 each point: what the system is, what it stores, what it calculates, and what it shows.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this project matters to society and to users.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objectives. Each one is implemented in a module shown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types of existing systems were studied. For each: what it does and its limitation.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Existing systems each do part of the job. None combines all six features in one simple DBMS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DBMS-Based Full Stack Development Methodology: eight steps from requirements to the final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 and type of the algorithm, then its twelve steps in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Follow the arrows: user → frontend (5500) → FastAPI backend (8000) → SQLite →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each technology: where it is used and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tables, four relationships, and where the database file is stored.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the user enters in each form, and the sample data used for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User Module and Solar Panel Module: the base data of the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Energy Reading Module plus the calculation formulas.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Dashboard, Reports, Alerts, and Maintenance modules: the outputs of the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DBMS concept and where it appears in our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Tools, port numbers, URLs, and where the database file is stored.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Totals from the Reports page for 30 Aug – 28 Sept 2026 (42 readings, 3 panels).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check compares system output with manual calculation or stored records. All passed.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home and dashboard pages, then explain the eight-step working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Left: manual / existing way. Right: our system for the same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each challenge, the solution we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Planned improvements beyond the current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each course outcome is covered in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project is a DBMS-based full-stack web application. Frontend: HTML, CSS, JavaScript. Backend: FastAPI. SQLite database stored as backend/solar.db. Users add panels and daily readings; the backend stores data and calculates balance, expected energy, efficiency, and savings; efficiency below 60% creates an alert. Dashboard and reports use SQL queries, joins, and aggregate functions.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used for the literature survey, DBMS concepts, and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5.png"/><Relationship Id="rId9" Type="http://schemas.openxmlformats.org/officeDocument/2006/relationships/image" Target="../media/image6.png"/><Relationship Id="rId10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8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9.png"/><Relationship Id="rId9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1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6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Relationship Id="rId9" Type="http://schemas.openxmlformats.org/officeDocument/2006/relationships/image" Target="../media/image3.png"/><Relationship Id="rId10" Type="http://schemas.openxmlformats.org/officeDocument/2006/relationships/image" Target="../media/image30.png"/><Relationship Id="rId11" Type="http://schemas.openxmlformats.org/officeDocument/2006/relationships/image" Target="../media/image3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3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Relationship Id="rId4" Type="http://schemas.openxmlformats.org/officeDocument/2006/relationships/image" Target="../media/image33.png"/><Relationship Id="rId5" Type="http://schemas.openxmlformats.org/officeDocument/2006/relationships/image" Target="../media/image1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1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Relationship Id="rId4" Type="http://schemas.openxmlformats.org/officeDocument/2006/relationships/image" Target="../media/image33.png"/><Relationship Id="rId5" Type="http://schemas.openxmlformats.org/officeDocument/2006/relationships/image" Target="../media/image1.png"/><Relationship Id="rId6" Type="http://schemas.openxmlformats.org/officeDocument/2006/relationships/image" Target="../media/image36.png"/><Relationship Id="rId7" Type="http://schemas.openxmlformats.org/officeDocument/2006/relationships/image" Target="../media/image3.png"/><Relationship Id="rId8" Type="http://schemas.openxmlformats.org/officeDocument/2006/relationships/image" Target="../media/image37.png"/><Relationship Id="rId9" Type="http://schemas.openxmlformats.org/officeDocument/2006/relationships/image" Target="../media/image3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Relationship Id="rId4" Type="http://schemas.openxmlformats.org/officeDocument/2006/relationships/image" Target="../media/image34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image" Target="../media/image13.png"/><Relationship Id="rId9" Type="http://schemas.openxmlformats.org/officeDocument/2006/relationships/image" Target="../media/image5.png"/><Relationship Id="rId10" Type="http://schemas.openxmlformats.org/officeDocument/2006/relationships/image" Target="../media/image4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Relationship Id="rId4" Type="http://schemas.openxmlformats.org/officeDocument/2006/relationships/image" Target="../media/image41.png"/><Relationship Id="rId5" Type="http://schemas.openxmlformats.org/officeDocument/2006/relationships/image" Target="../media/image43.png"/><Relationship Id="rId6" Type="http://schemas.openxmlformats.org/officeDocument/2006/relationships/image" Target="../media/image5.png"/><Relationship Id="rId7" Type="http://schemas.openxmlformats.org/officeDocument/2006/relationships/image" Target="../media/image35.png"/><Relationship Id="rId8" Type="http://schemas.openxmlformats.org/officeDocument/2006/relationships/image" Target="../media/image3.png"/><Relationship Id="rId9" Type="http://schemas.openxmlformats.org/officeDocument/2006/relationships/image" Target="../media/image44.png"/><Relationship Id="rId10" Type="http://schemas.openxmlformats.org/officeDocument/2006/relationships/image" Target="../media/image4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36.png"/><Relationship Id="rId7" Type="http://schemas.openxmlformats.org/officeDocument/2006/relationships/image" Target="../media/image48.png"/><Relationship Id="rId8" Type="http://schemas.openxmlformats.org/officeDocument/2006/relationships/image" Target="../media/image3.png"/><Relationship Id="rId9" Type="http://schemas.openxmlformats.org/officeDocument/2006/relationships/image" Target="../media/image49.png"/><Relationship Id="rId10" Type="http://schemas.openxmlformats.org/officeDocument/2006/relationships/image" Target="../media/image43.png"/><Relationship Id="rId11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Relationship Id="rId4" Type="http://schemas.openxmlformats.org/officeDocument/2006/relationships/image" Target="../media/image31.png"/><Relationship Id="rId5" Type="http://schemas.openxmlformats.org/officeDocument/2006/relationships/image" Target="../media/image28.png"/><Relationship Id="rId6" Type="http://schemas.openxmlformats.org/officeDocument/2006/relationships/image" Target="../media/image30.png"/><Relationship Id="rId7" Type="http://schemas.openxmlformats.org/officeDocument/2006/relationships/image" Target="../media/image3.png"/><Relationship Id="rId8" Type="http://schemas.openxmlformats.org/officeDocument/2006/relationships/image" Target="../media/image27.png"/><Relationship Id="rId9" Type="http://schemas.openxmlformats.org/officeDocument/2006/relationships/image" Target="../media/image50.png"/><Relationship Id="rId10" Type="http://schemas.openxmlformats.org/officeDocument/2006/relationships/image" Target="../media/image46.png"/><Relationship Id="rId11" Type="http://schemas.openxmlformats.org/officeDocument/2006/relationships/image" Target="../media/image5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Relationship Id="rId4" Type="http://schemas.openxmlformats.org/officeDocument/2006/relationships/image" Target="../media/image5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Relationship Id="rId4" Type="http://schemas.openxmlformats.org/officeDocument/2006/relationships/image" Target="../media/image55.png"/><Relationship Id="rId5" Type="http://schemas.openxmlformats.org/officeDocument/2006/relationships/image" Target="../media/image5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Relationship Id="rId7" Type="http://schemas.openxmlformats.org/officeDocument/2006/relationships/image" Target="../media/image60.png"/><Relationship Id="rId8" Type="http://schemas.openxmlformats.org/officeDocument/2006/relationships/image" Target="../media/image61.png"/><Relationship Id="rId9" Type="http://schemas.openxmlformats.org/officeDocument/2006/relationships/image" Target="../media/image62.png"/><Relationship Id="rId10" Type="http://schemas.openxmlformats.org/officeDocument/2006/relationships/image" Target="../media/image6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Relationship Id="rId4" Type="http://schemas.openxmlformats.org/officeDocument/2006/relationships/image" Target="../media/image46.png"/><Relationship Id="rId5" Type="http://schemas.openxmlformats.org/officeDocument/2006/relationships/image" Target="../media/image3.png"/><Relationship Id="rId6" Type="http://schemas.openxmlformats.org/officeDocument/2006/relationships/image" Target="../media/image28.png"/><Relationship Id="rId7" Type="http://schemas.openxmlformats.org/officeDocument/2006/relationships/image" Target="../media/image64.png"/><Relationship Id="rId8" Type="http://schemas.openxmlformats.org/officeDocument/2006/relationships/image" Target="../media/image65.png"/><Relationship Id="rId9" Type="http://schemas.openxmlformats.org/officeDocument/2006/relationships/image" Target="../media/image6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" y="-128016"/>
            <a:ext cx="12228271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pic>
        <p:nvPicPr>
          <p:cNvPr id="3" name="Image 0" descr="/home/claude/work/tpl_assets/klh_ban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6848" y="502920"/>
            <a:ext cx="6858000" cy="8220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481328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DATABASE SYSTEMS ENGINEERING AND DISTRIBUTED BACKEND DEVELOPMENT (25CS1302E)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914400" y="1901952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Y25  ·  2026–2027  ·  Trimester 4  ·  Section 13  ·  Team 4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22960" y="2514600"/>
            <a:ext cx="10543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5482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SOLAR ENERGY MANAGEMENT AND</a:t>
            </a:r>
            <a:endParaRPr lang="en-US" sz="3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5482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MONITORING SYSTEM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822960" y="379476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0" dirty="0" b="1">
                <a:solidFill>
                  <a:srgbClr val="2E75B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Database Management System Project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4343400"/>
            <a:ext cx="10543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Team Members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22960" y="4773168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2520090226  –  Lahari Namala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22960" y="5157216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2520090236  –  K. Keathana Vikashini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22960" y="5541264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2520090234  –  C. Poojitha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DBMS Project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Abstract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DBMS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" y="1280160"/>
            <a:ext cx="10497312" cy="54864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932688" y="1362456"/>
            <a:ext cx="384048" cy="38404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aSolarPanel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859" y="1454627"/>
            <a:ext cx="199704" cy="1997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53896" y="1280160"/>
            <a:ext cx="979322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Calibri"/>
              </a:rPr>
              <a:t>Solar Energy Management and Monitoring System is a DBMS-based full-stack web application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1920239"/>
            <a:ext cx="10497312" cy="54864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932688" y="2002535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aUserEdi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859" y="2094707"/>
            <a:ext cx="199704" cy="19970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453896" y="1920239"/>
            <a:ext cx="979322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Calibri"/>
              </a:rPr>
              <a:t>Users add solar panel details and enter daily generated and consumed energy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2560320"/>
            <a:ext cx="10497312" cy="54864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932688" y="2642615"/>
            <a:ext cx="384048" cy="38404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FaDatabas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859" y="2734787"/>
            <a:ext cx="199704" cy="19970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453896" y="2560320"/>
            <a:ext cx="979322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Calibri"/>
              </a:rPr>
              <a:t>All data is stored in a SQL database (SQLite)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3200399"/>
            <a:ext cx="10497312" cy="54864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932688" y="3282695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FaCalculator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859" y="3374867"/>
            <a:ext cx="199704" cy="19970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453896" y="3200399"/>
            <a:ext cx="979322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Calibri"/>
              </a:rPr>
              <a:t>The system calculates energy balance, expected energy, efficiency, and savings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3840479"/>
            <a:ext cx="10497312" cy="54864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932688" y="3922775"/>
            <a:ext cx="384048" cy="38404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aBell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4859" y="4014947"/>
            <a:ext cx="199704" cy="19970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453896" y="3840479"/>
            <a:ext cx="979322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Calibri"/>
              </a:rPr>
              <a:t>If efficiency is below 60%, a low-efficiency alert is generated automatically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248" y="4480560"/>
            <a:ext cx="10497312" cy="54864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932688" y="4562856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FaChartBar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859" y="4655027"/>
            <a:ext cx="199704" cy="19970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453896" y="4480560"/>
            <a:ext cx="979322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Calibri"/>
              </a:rPr>
              <a:t>Results are displayed through the dashboard, reports, and alerts pages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1248" y="5212080"/>
            <a:ext cx="10497312" cy="73152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987552" y="5367528"/>
            <a:ext cx="420624" cy="42062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FaCheckCircle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8501" y="5468477"/>
            <a:ext cx="218724" cy="21872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572768" y="521208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1">
                <a:solidFill>
                  <a:srgbClr val="A9D18E"/>
                </a:solidFill>
                <a:latin typeface="Calibri"/>
              </a:rPr>
              <a:t>Main Purpose:  </a:t>
            </a:r>
            <a:r>
              <a:rPr sz="1550" b="1">
                <a:solidFill>
                  <a:srgbClr val="FFFFFF"/>
                </a:solidFill>
                <a:latin typeface="Calibri"/>
              </a:rPr>
              <a:t>Avoid manual tracking of solar energy data and provide a simple database-based system to monitor solar panel performance.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DBMS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" y="1280160"/>
            <a:ext cx="10497312" cy="100584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1005840" y="1499616"/>
            <a:ext cx="566928" cy="56692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aExclamationTriangl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1902" y="1635678"/>
            <a:ext cx="294802" cy="29480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783080" y="1280160"/>
            <a:ext cx="941832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Calibri"/>
              </a:rPr>
              <a:t>Solar energy users do not have a simple system to track and monitor their solar energy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560320"/>
            <a:ext cx="10497312" cy="603504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932688" y="2670048"/>
            <a:ext cx="384048" cy="38404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aDatabas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859" y="2762219"/>
            <a:ext cx="199704" cy="19970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453896" y="2560320"/>
            <a:ext cx="9793224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alibri"/>
              </a:rPr>
              <a:t>No tracking</a:t>
            </a:r>
            <a:r>
              <a:rPr sz="1700" b="0">
                <a:solidFill>
                  <a:srgbClr val="1A1A1A"/>
                </a:solidFill>
                <a:latin typeface="Calibri"/>
              </a:rPr>
              <a:t>  –  generated and consumed energy are not recorded in one place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3291839"/>
            <a:ext cx="10497312" cy="603504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932688" y="3401568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FaCalculator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859" y="3493739"/>
            <a:ext cx="199704" cy="19970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453896" y="3291839"/>
            <a:ext cx="9793224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alibri"/>
              </a:rPr>
              <a:t>No calculations</a:t>
            </a:r>
            <a:r>
              <a:rPr sz="1700" b="0">
                <a:solidFill>
                  <a:srgbClr val="1A1A1A"/>
                </a:solidFill>
                <a:latin typeface="Calibri"/>
              </a:rPr>
              <a:t>  –  efficiency and savings are not calculated clearly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4023360"/>
            <a:ext cx="10497312" cy="603504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932688" y="4133088"/>
            <a:ext cx="384048" cy="38404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FaBell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859" y="4225259"/>
            <a:ext cx="199704" cy="19970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453896" y="4023360"/>
            <a:ext cx="9793224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alibri"/>
              </a:rPr>
              <a:t>No alerts</a:t>
            </a:r>
            <a:r>
              <a:rPr sz="1700" b="0">
                <a:solidFill>
                  <a:srgbClr val="1A1A1A"/>
                </a:solidFill>
                <a:latin typeface="Calibri"/>
              </a:rPr>
              <a:t>  –  low-performing solar panels go unnoticed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4754880"/>
            <a:ext cx="10497312" cy="603504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932688" y="4864608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aKeyboard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4859" y="4956779"/>
            <a:ext cx="199704" cy="19970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453896" y="4754880"/>
            <a:ext cx="9793224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alibri"/>
              </a:rPr>
              <a:t>Manual tracking</a:t>
            </a:r>
            <a:r>
              <a:rPr sz="1700" b="0">
                <a:solidFill>
                  <a:srgbClr val="1A1A1A"/>
                </a:solidFill>
                <a:latin typeface="Calibri"/>
              </a:rPr>
              <a:t>  –  difficult, time-consuming, error-prone, and leads to poor monitoring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248" y="5486400"/>
            <a:ext cx="10497312" cy="50292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987552" y="5527548"/>
            <a:ext cx="420624" cy="4206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FaLightbulb_g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8501" y="5628497"/>
            <a:ext cx="218724" cy="21872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572768" y="5486400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1">
                <a:solidFill>
                  <a:srgbClr val="E2F0D9"/>
                </a:solidFill>
                <a:latin typeface="Calibri"/>
              </a:rPr>
              <a:t>Need:  </a:t>
            </a:r>
            <a:r>
              <a:rPr sz="1550" b="1">
                <a:solidFill>
                  <a:srgbClr val="FFFFFF"/>
                </a:solidFill>
                <a:latin typeface="Calibri"/>
              </a:rPr>
              <a:t>A database-based monitoring system is needed.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Motivation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DBMS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" y="1280160"/>
            <a:ext cx="10497312" cy="658368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932688" y="1417319"/>
            <a:ext cx="384048" cy="38404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aSolarPanel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859" y="1509491"/>
            <a:ext cx="199704" cy="1997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53896" y="1280160"/>
            <a:ext cx="9793224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alibri"/>
              </a:rPr>
              <a:t>Renewable energy</a:t>
            </a:r>
            <a:r>
              <a:rPr sz="1700" b="0">
                <a:solidFill>
                  <a:srgbClr val="1A1A1A"/>
                </a:solidFill>
                <a:latin typeface="Calibri"/>
              </a:rPr>
              <a:t>  –  promotes the use of solar power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066543"/>
            <a:ext cx="10497312" cy="658368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932688" y="2203703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aChartLin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859" y="2295875"/>
            <a:ext cx="199704" cy="19970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453896" y="2066543"/>
            <a:ext cx="9793224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alibri"/>
              </a:rPr>
              <a:t>Awareness</a:t>
            </a:r>
            <a:r>
              <a:rPr sz="1700" b="0">
                <a:solidFill>
                  <a:srgbClr val="1A1A1A"/>
                </a:solidFill>
                <a:latin typeface="Calibri"/>
              </a:rPr>
              <a:t>  –  helps users understand their solar panel performance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2852928"/>
            <a:ext cx="10497312" cy="658368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932688" y="2990088"/>
            <a:ext cx="384048" cy="38404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FaRecycl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859" y="3082259"/>
            <a:ext cx="199704" cy="19970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453896" y="2852928"/>
            <a:ext cx="9793224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alibri"/>
              </a:rPr>
              <a:t>Less wastage</a:t>
            </a:r>
            <a:r>
              <a:rPr sz="1700" b="0">
                <a:solidFill>
                  <a:srgbClr val="1A1A1A"/>
                </a:solidFill>
                <a:latin typeface="Calibri"/>
              </a:rPr>
              <a:t>  –  reduces energy wastage through monitoring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3639312"/>
            <a:ext cx="10497312" cy="658368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932688" y="3776472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FaRupeeSign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859" y="3868643"/>
            <a:ext cx="199704" cy="19970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453896" y="3639312"/>
            <a:ext cx="9793224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alibri"/>
              </a:rPr>
              <a:t>Cost saving</a:t>
            </a:r>
            <a:r>
              <a:rPr sz="1700" b="0">
                <a:solidFill>
                  <a:srgbClr val="1A1A1A"/>
                </a:solidFill>
                <a:latin typeface="Calibri"/>
              </a:rPr>
              <a:t>  –  shows money saved from solar energy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4425696"/>
            <a:ext cx="10497312" cy="658368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932688" y="4562856"/>
            <a:ext cx="384048" cy="38404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aSeedling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4859" y="4655027"/>
            <a:ext cx="199704" cy="19970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453896" y="4425696"/>
            <a:ext cx="9793224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alibri"/>
              </a:rPr>
              <a:t>Sustainability</a:t>
            </a:r>
            <a:r>
              <a:rPr sz="1700" b="0">
                <a:solidFill>
                  <a:srgbClr val="1A1A1A"/>
                </a:solidFill>
                <a:latin typeface="Calibri"/>
              </a:rPr>
              <a:t>  –  encourages sustainable energy management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248" y="5303520"/>
            <a:ext cx="10497312" cy="59436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987552" y="5390388"/>
            <a:ext cx="420624" cy="42062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FaCheckCircle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8501" y="5491337"/>
            <a:ext cx="218724" cy="21872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572768" y="5303520"/>
            <a:ext cx="96012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1">
                <a:solidFill>
                  <a:srgbClr val="A9D18E"/>
                </a:solidFill>
                <a:latin typeface="Calibri"/>
              </a:rPr>
              <a:t>Who benefits:  </a:t>
            </a:r>
            <a:r>
              <a:rPr sz="1550" b="1">
                <a:solidFill>
                  <a:srgbClr val="FFFFFF"/>
                </a:solidFill>
                <a:latin typeface="Calibri"/>
              </a:rPr>
              <a:t>Useful for homes, colleges, and small organizations that use solar panels.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DBMS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" y="1325880"/>
            <a:ext cx="10497312" cy="73152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932688" y="1499616"/>
            <a:ext cx="384048" cy="38404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53896" y="1325880"/>
            <a:ext cx="9793224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002060"/>
                </a:solidFill>
                <a:latin typeface="Calibri"/>
              </a:rPr>
              <a:t>To store solar panel details in a database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240280"/>
            <a:ext cx="10497312" cy="73152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32688" y="2414016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53896" y="2240280"/>
            <a:ext cx="9793224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002060"/>
                </a:solidFill>
                <a:latin typeface="Calibri"/>
              </a:rPr>
              <a:t>To record daily generated and consumed energy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3154680"/>
            <a:ext cx="10497312" cy="73152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932688" y="3328416"/>
            <a:ext cx="384048" cy="38404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6" y="3154680"/>
            <a:ext cx="9793224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002060"/>
                </a:solidFill>
                <a:latin typeface="Calibri"/>
              </a:rPr>
              <a:t>To calculate energy balance, expected energy, efficiency, and savings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" y="4069080"/>
            <a:ext cx="10497312" cy="73152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932688" y="4242816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53896" y="4069080"/>
            <a:ext cx="9793224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002060"/>
                </a:solidFill>
                <a:latin typeface="Calibri"/>
              </a:rPr>
              <a:t>To generate alerts when efficiency is below 60%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4983480"/>
            <a:ext cx="10497312" cy="73152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932688" y="5157216"/>
            <a:ext cx="384048" cy="38404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53896" y="4983480"/>
            <a:ext cx="9793224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002060"/>
                </a:solidFill>
                <a:latin typeface="Calibri"/>
              </a:rPr>
              <a:t>To display dashboard and reports using SQL queries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Survey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DBMS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" y="1280160"/>
            <a:ext cx="5111496" cy="214884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1024128" y="1463039"/>
            <a:ext cx="548640" cy="54864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aChartBar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5801" y="1594713"/>
            <a:ext cx="285292" cy="285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709928" y="1463039"/>
            <a:ext cx="410565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alibri"/>
              </a:rPr>
              <a:t>Solar Monitoring Dashboards [1]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2148839"/>
            <a:ext cx="470001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1F4E79"/>
                </a:solidFill>
                <a:latin typeface="Calibri"/>
              </a:rPr>
              <a:t>• Features:  </a:t>
            </a:r>
            <a:r>
              <a:rPr sz="1500" b="0">
                <a:solidFill>
                  <a:srgbClr val="1A1A1A"/>
                </a:solidFill>
                <a:latin typeface="Calibri"/>
              </a:rPr>
              <a:t>Show solar generation and usage with graphs</a:t>
            </a:r>
          </a:p>
          <a:p>
            <a:pPr algn="l"/>
            <a:r>
              <a:rPr sz="1500" b="1">
                <a:solidFill>
                  <a:srgbClr val="C00000"/>
                </a:solidFill>
                <a:latin typeface="Calibri"/>
              </a:rPr>
              <a:t>• Limitation:  </a:t>
            </a:r>
            <a:r>
              <a:rPr sz="1500" b="0">
                <a:solidFill>
                  <a:srgbClr val="1A1A1A"/>
                </a:solidFill>
                <a:latin typeface="Calibri"/>
              </a:rPr>
              <a:t>No SQL reports or DBMS concepts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1280160"/>
            <a:ext cx="5111496" cy="214884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6409944" y="1463039"/>
            <a:ext cx="548640" cy="54864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FaMicrochip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1617" y="1594713"/>
            <a:ext cx="285292" cy="2852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095744" y="1463039"/>
            <a:ext cx="410565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alibri"/>
              </a:rPr>
              <a:t>IoT-Based Solar Monitoring [2]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2148839"/>
            <a:ext cx="470001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  <a:latin typeface="Calibri"/>
              </a:rPr>
              <a:t>• Features:  </a:t>
            </a:r>
            <a:r>
              <a:rPr sz="1500" b="0">
                <a:solidFill>
                  <a:srgbClr val="1A1A1A"/>
                </a:solidFill>
                <a:latin typeface="Calibri"/>
              </a:rPr>
              <a:t>Collect real-time data using sensors</a:t>
            </a:r>
          </a:p>
          <a:p>
            <a:pPr algn="l"/>
            <a:r>
              <a:rPr sz="1500" b="1">
                <a:solidFill>
                  <a:srgbClr val="C00000"/>
                </a:solidFill>
                <a:latin typeface="Calibri"/>
              </a:rPr>
              <a:t>• Limitation:  </a:t>
            </a:r>
            <a:r>
              <a:rPr sz="1500" b="0">
                <a:solidFill>
                  <a:srgbClr val="1A1A1A"/>
                </a:solidFill>
                <a:latin typeface="Calibri"/>
              </a:rPr>
              <a:t>Needs extra hardware and setup cost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3657600"/>
            <a:ext cx="5111496" cy="214884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1024128" y="3840480"/>
            <a:ext cx="548640" cy="54864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FaPlug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5801" y="3972153"/>
            <a:ext cx="285292" cy="28529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709928" y="3840480"/>
            <a:ext cx="410565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alibri"/>
              </a:rPr>
              <a:t>Energy Management Systems [3]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4526280"/>
            <a:ext cx="470001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  <a:latin typeface="Calibri"/>
              </a:rPr>
              <a:t>• Features:  </a:t>
            </a:r>
            <a:r>
              <a:rPr sz="1500" b="0">
                <a:solidFill>
                  <a:srgbClr val="1A1A1A"/>
                </a:solidFill>
                <a:latin typeface="Calibri"/>
              </a:rPr>
              <a:t>Track household electricity usage</a:t>
            </a:r>
          </a:p>
          <a:p>
            <a:pPr algn="l"/>
            <a:r>
              <a:rPr sz="1500" b="1">
                <a:solidFill>
                  <a:srgbClr val="C00000"/>
                </a:solidFill>
                <a:latin typeface="Calibri"/>
              </a:rPr>
              <a:t>• Limitation:  </a:t>
            </a:r>
            <a:r>
              <a:rPr sz="1500" b="0">
                <a:solidFill>
                  <a:srgbClr val="1A1A1A"/>
                </a:solidFill>
                <a:latin typeface="Calibri"/>
              </a:rPr>
              <a:t>No focus on solar efficiency or savings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3657600"/>
            <a:ext cx="5111496" cy="214884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6409944" y="3840480"/>
            <a:ext cx="548640" cy="54864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FaDatabas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1617" y="3972153"/>
            <a:ext cx="285292" cy="28529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095744" y="3840480"/>
            <a:ext cx="410565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alibri"/>
              </a:rPr>
              <a:t>Database Reporting Systems [4]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5664" y="4526280"/>
            <a:ext cx="470001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1F4E79"/>
                </a:solidFill>
                <a:latin typeface="Calibri"/>
              </a:rPr>
              <a:t>• Features:  </a:t>
            </a:r>
            <a:r>
              <a:rPr sz="1500" b="0">
                <a:solidFill>
                  <a:srgbClr val="1A1A1A"/>
                </a:solidFill>
                <a:latin typeface="Calibri"/>
              </a:rPr>
              <a:t>Store data and create SQL reports</a:t>
            </a:r>
          </a:p>
          <a:p>
            <a:pPr algn="l"/>
            <a:r>
              <a:rPr sz="1500" b="1">
                <a:solidFill>
                  <a:srgbClr val="C00000"/>
                </a:solidFill>
                <a:latin typeface="Calibri"/>
              </a:rPr>
              <a:t>• Limitation:  </a:t>
            </a:r>
            <a:r>
              <a:rPr sz="1500" b="0">
                <a:solidFill>
                  <a:srgbClr val="1A1A1A"/>
                </a:solidFill>
                <a:latin typeface="Calibri"/>
              </a:rPr>
              <a:t>Not designed for solar energy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Gap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DBMS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" y="1280160"/>
            <a:ext cx="10497312" cy="77724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51560" y="1280160"/>
            <a:ext cx="101498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Calibri"/>
              </a:rPr>
              <a:t>Existing systems monitor solar energy or electricity usage, but none provide one simple DBMS-based solution that combines: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2240280"/>
            <a:ext cx="5111496" cy="566928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FaCheck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2404872"/>
            <a:ext cx="237744" cy="2377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44168" y="2240280"/>
            <a:ext cx="451713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Calibri"/>
              </a:rPr>
              <a:t>Structured solar panel storage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2916936"/>
            <a:ext cx="5111496" cy="566928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FaCheck_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3081528"/>
            <a:ext cx="237744" cy="2377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344168" y="2916936"/>
            <a:ext cx="451713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Calibri"/>
              </a:rPr>
              <a:t>Daily energy reading storage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3593592"/>
            <a:ext cx="5111496" cy="566928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FaCheck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3758184"/>
            <a:ext cx="237744" cy="2377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344168" y="3593592"/>
            <a:ext cx="451713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Calibri"/>
              </a:rPr>
              <a:t>Efficiency calculation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7064" y="2240280"/>
            <a:ext cx="5111496" cy="566928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FaCheck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79" y="2404872"/>
            <a:ext cx="237744" cy="23774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729983" y="2240280"/>
            <a:ext cx="451713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Calibri"/>
              </a:rPr>
              <a:t>Savings calculation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27064" y="2916936"/>
            <a:ext cx="5111496" cy="566928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FaCheck_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79" y="3081528"/>
            <a:ext cx="237744" cy="23774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729983" y="2916936"/>
            <a:ext cx="451713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Calibri"/>
              </a:rPr>
              <a:t>Low-efficiency alert generation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27064" y="3593592"/>
            <a:ext cx="5111496" cy="566928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6" name="Picture 25" descr="FaCheck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79" y="3758184"/>
            <a:ext cx="237744" cy="23774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729983" y="3593592"/>
            <a:ext cx="451713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Calibri"/>
              </a:rPr>
              <a:t>SQL-based reports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248" y="4480560"/>
            <a:ext cx="10497312" cy="64008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987552" y="4590288"/>
            <a:ext cx="420624" cy="42062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FaPuzzlePiec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8501" y="4691237"/>
            <a:ext cx="218724" cy="21872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572768" y="448056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1">
                <a:solidFill>
                  <a:srgbClr val="A9D18E"/>
                </a:solidFill>
                <a:latin typeface="Calibri"/>
              </a:rPr>
              <a:t>Gap:  </a:t>
            </a:r>
            <a:r>
              <a:rPr sz="1550" b="1">
                <a:solidFill>
                  <a:srgbClr val="FFFFFF"/>
                </a:solidFill>
                <a:latin typeface="Calibri"/>
              </a:rPr>
              <a:t>This gap creates the need for a database-driven solar energy management system.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1248" y="5257800"/>
            <a:ext cx="10497312" cy="64008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987552" y="5367528"/>
            <a:ext cx="420624" cy="4206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FaCheckCircle_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8501" y="5468477"/>
            <a:ext cx="218724" cy="21872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572768" y="525780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1">
                <a:solidFill>
                  <a:srgbClr val="E2F0D9"/>
                </a:solidFill>
                <a:latin typeface="Calibri"/>
              </a:rPr>
              <a:t>Our Solution:  </a:t>
            </a:r>
            <a:r>
              <a:rPr sz="1550" b="1">
                <a:solidFill>
                  <a:srgbClr val="FFFFFF"/>
                </a:solidFill>
                <a:latin typeface="Calibri"/>
              </a:rPr>
              <a:t>Our project fills this gap with a web system using FastAPI and SQLite.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Methodology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DBMS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248" y="1170432"/>
            <a:ext cx="104973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2E7D32"/>
                </a:solidFill>
                <a:latin typeface="Calibri"/>
              </a:rPr>
              <a:t>Methodology: </a:t>
            </a:r>
            <a:r>
              <a:rPr sz="1700" b="1">
                <a:solidFill>
                  <a:srgbClr val="002060"/>
                </a:solidFill>
                <a:latin typeface="Calibri"/>
              </a:rPr>
              <a:t>DBMS-Based Full Stack Development Methodology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1645920"/>
            <a:ext cx="5111496" cy="96012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932688" y="1933956"/>
            <a:ext cx="384048" cy="38404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645920"/>
            <a:ext cx="440740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002060"/>
                </a:solidFill>
                <a:latin typeface="Calibri"/>
              </a:rPr>
              <a:t>Requirement Collection</a:t>
            </a:r>
            <a:r>
              <a:rPr sz="1450" b="0">
                <a:solidFill>
                  <a:srgbClr val="1A1A1A"/>
                </a:solidFill>
                <a:latin typeface="Calibri"/>
              </a:rPr>
              <a:t>  –  user details, panel details, generated and consumed energy, cost per unit, alerts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734056"/>
            <a:ext cx="5111496" cy="96012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932688" y="3022092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2734056"/>
            <a:ext cx="440740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002060"/>
                </a:solidFill>
                <a:latin typeface="Calibri"/>
              </a:rPr>
              <a:t>Database Design</a:t>
            </a:r>
            <a:r>
              <a:rPr sz="1450" b="0">
                <a:solidFill>
                  <a:srgbClr val="1A1A1A"/>
                </a:solidFill>
                <a:latin typeface="Calibri"/>
              </a:rPr>
              <a:t>  –  SQL tables with primary keys and foreign keys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822191"/>
            <a:ext cx="5111496" cy="96012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32688" y="4110228"/>
            <a:ext cx="384048" cy="38404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53896" y="3822191"/>
            <a:ext cx="440740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002060"/>
                </a:solidFill>
                <a:latin typeface="Calibri"/>
              </a:rPr>
              <a:t>Frontend Design</a:t>
            </a:r>
            <a:r>
              <a:rPr sz="1450" b="0">
                <a:solidFill>
                  <a:srgbClr val="1A1A1A"/>
                </a:solidFill>
                <a:latin typeface="Calibri"/>
              </a:rPr>
              <a:t>  –  Home, Dashboard, Solar Panels, Energy Readings, Reports, Alerts, Maintenance, Users pages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910328"/>
            <a:ext cx="5111496" cy="96012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932688" y="5198364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53896" y="4910328"/>
            <a:ext cx="440740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002060"/>
                </a:solidFill>
                <a:latin typeface="Calibri"/>
              </a:rPr>
              <a:t>Backend API Development</a:t>
            </a:r>
            <a:r>
              <a:rPr sz="1450" b="0">
                <a:solidFill>
                  <a:srgbClr val="1A1A1A"/>
                </a:solidFill>
                <a:latin typeface="Calibri"/>
              </a:rPr>
              <a:t>  –  REST APIs created using FastAPI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27064" y="1645920"/>
            <a:ext cx="5111496" cy="96012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6318503" y="1933956"/>
            <a:ext cx="384048" cy="38404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9712" y="1645920"/>
            <a:ext cx="440740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002060"/>
                </a:solidFill>
                <a:latin typeface="Calibri"/>
              </a:rPr>
              <a:t>Database Integration</a:t>
            </a:r>
            <a:r>
              <a:rPr sz="1450" b="0">
                <a:solidFill>
                  <a:srgbClr val="1A1A1A"/>
                </a:solidFill>
                <a:latin typeface="Calibri"/>
              </a:rPr>
              <a:t>  –  backend stores and fetches data from the SQLite database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27064" y="2734056"/>
            <a:ext cx="5111496" cy="96012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6318503" y="3022092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2734056"/>
            <a:ext cx="440740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002060"/>
                </a:solidFill>
                <a:latin typeface="Calibri"/>
              </a:rPr>
              <a:t>Energy Calculation Algorithm</a:t>
            </a:r>
            <a:r>
              <a:rPr sz="1450" b="0">
                <a:solidFill>
                  <a:srgbClr val="1A1A1A"/>
                </a:solidFill>
                <a:latin typeface="Calibri"/>
              </a:rPr>
              <a:t>  –  calculates balance, expected energy, efficiency, and savings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27064" y="3822191"/>
            <a:ext cx="5111496" cy="96012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6318503" y="4110228"/>
            <a:ext cx="384048" cy="38404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9712" y="3822191"/>
            <a:ext cx="440740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002060"/>
                </a:solidFill>
                <a:latin typeface="Calibri"/>
              </a:rPr>
              <a:t>Testing With Sample Data</a:t>
            </a:r>
            <a:r>
              <a:rPr sz="1450" b="0">
                <a:solidFill>
                  <a:srgbClr val="1A1A1A"/>
                </a:solidFill>
                <a:latin typeface="Calibri"/>
              </a:rPr>
              <a:t>  –  tested with sample users, panels, readings, and alerts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27064" y="4910328"/>
            <a:ext cx="5111496" cy="96012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6318503" y="5198364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39712" y="4910328"/>
            <a:ext cx="440740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002060"/>
                </a:solidFill>
                <a:latin typeface="Calibri"/>
              </a:rPr>
              <a:t>Dashboard and Report Generation</a:t>
            </a:r>
            <a:r>
              <a:rPr sz="1450" b="0">
                <a:solidFill>
                  <a:srgbClr val="1A1A1A"/>
                </a:solidFill>
                <a:latin typeface="Calibri"/>
              </a:rPr>
              <a:t>  –  final results shown through dashboard, reports, and alerts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Algorithm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DBMS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" y="1188720"/>
            <a:ext cx="5669280" cy="50292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05840" y="1188720"/>
            <a:ext cx="5440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1F4E79"/>
                </a:solidFill>
                <a:latin typeface="Calibri"/>
              </a:rPr>
              <a:t>Title: </a:t>
            </a:r>
            <a:r>
              <a:rPr sz="1350" b="1">
                <a:solidFill>
                  <a:srgbClr val="002060"/>
                </a:solidFill>
                <a:latin typeface="Calibri"/>
              </a:rPr>
              <a:t>Solar Energy Monitoring and Alert Generation Algorithm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188720"/>
            <a:ext cx="4663440" cy="50292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812280" y="1188720"/>
            <a:ext cx="4480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2E7D32"/>
                </a:solidFill>
                <a:latin typeface="Calibri"/>
              </a:rPr>
              <a:t>Type: </a:t>
            </a:r>
            <a:r>
              <a:rPr sz="1350" b="1">
                <a:solidFill>
                  <a:srgbClr val="002060"/>
                </a:solidFill>
                <a:latin typeface="Calibri"/>
              </a:rPr>
              <a:t>Rule-Based Energy Calculation and Alert Generation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1874519"/>
            <a:ext cx="5111496" cy="566928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932688" y="1965960"/>
            <a:ext cx="384048" cy="38404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1874519"/>
            <a:ext cx="44074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1">
                <a:solidFill>
                  <a:srgbClr val="002060"/>
                </a:solidFill>
                <a:latin typeface="Calibri"/>
              </a:rPr>
              <a:t>Start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2532887"/>
            <a:ext cx="5111496" cy="566928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32688" y="2624327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53896" y="2532887"/>
            <a:ext cx="44074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1">
                <a:solidFill>
                  <a:srgbClr val="002060"/>
                </a:solidFill>
                <a:latin typeface="Calibri"/>
              </a:rPr>
              <a:t>User logs into the system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3191256"/>
            <a:ext cx="5111496" cy="566928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932688" y="3282696"/>
            <a:ext cx="384048" cy="38404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53896" y="3191256"/>
            <a:ext cx="44074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1">
                <a:solidFill>
                  <a:srgbClr val="002060"/>
                </a:solidFill>
                <a:latin typeface="Calibri"/>
              </a:rPr>
              <a:t>User adds solar panel details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" y="3849624"/>
            <a:ext cx="5111496" cy="566928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932688" y="3941063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53896" y="3849624"/>
            <a:ext cx="44074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1">
                <a:solidFill>
                  <a:srgbClr val="002060"/>
                </a:solidFill>
                <a:latin typeface="Calibri"/>
              </a:rPr>
              <a:t>User enters daily generated energy and consumed energy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4507992"/>
            <a:ext cx="5111496" cy="566928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932688" y="4599431"/>
            <a:ext cx="384048" cy="38404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53896" y="4507992"/>
            <a:ext cx="44074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1">
                <a:solidFill>
                  <a:srgbClr val="002060"/>
                </a:solidFill>
                <a:latin typeface="Calibri"/>
              </a:rPr>
              <a:t>Store data in SQL database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1248" y="5166359"/>
            <a:ext cx="5111496" cy="566928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932688" y="5257799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53896" y="5166359"/>
            <a:ext cx="44074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1">
                <a:solidFill>
                  <a:srgbClr val="002060"/>
                </a:solidFill>
                <a:latin typeface="Calibri"/>
              </a:rPr>
              <a:t>Calculate energy balance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27064" y="1874519"/>
            <a:ext cx="5111496" cy="566928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6318503" y="1965960"/>
            <a:ext cx="384048" cy="38404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39712" y="1874519"/>
            <a:ext cx="44074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1">
                <a:solidFill>
                  <a:srgbClr val="002060"/>
                </a:solidFill>
                <a:latin typeface="Calibri"/>
              </a:rPr>
              <a:t>Calculate expected energy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27064" y="2532887"/>
            <a:ext cx="5111496" cy="566928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6318503" y="2624327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9712" y="2532887"/>
            <a:ext cx="44074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1">
                <a:solidFill>
                  <a:srgbClr val="002060"/>
                </a:solidFill>
                <a:latin typeface="Calibri"/>
              </a:rPr>
              <a:t>Calculate efficiency percentage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27064" y="3191256"/>
            <a:ext cx="5111496" cy="566928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6318503" y="3282696"/>
            <a:ext cx="384048" cy="38404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39712" y="3191256"/>
            <a:ext cx="44074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1">
                <a:solidFill>
                  <a:srgbClr val="002060"/>
                </a:solidFill>
                <a:latin typeface="Calibri"/>
              </a:rPr>
              <a:t>Calculate savings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27064" y="3849624"/>
            <a:ext cx="5111496" cy="566928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6318503" y="3941063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39712" y="3849624"/>
            <a:ext cx="44074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1">
                <a:solidFill>
                  <a:srgbClr val="002060"/>
                </a:solidFill>
                <a:latin typeface="Calibri"/>
              </a:rPr>
              <a:t>If efficiency is below 60%, generate alert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27064" y="4507992"/>
            <a:ext cx="5111496" cy="566928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6318503" y="4599431"/>
            <a:ext cx="384048" cy="38404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39712" y="4507992"/>
            <a:ext cx="44074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1">
                <a:solidFill>
                  <a:srgbClr val="002060"/>
                </a:solidFill>
                <a:latin typeface="Calibri"/>
              </a:rPr>
              <a:t>Display dashboard, reports, and alerts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27064" y="5166359"/>
            <a:ext cx="5111496" cy="566928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Oval 45"/>
          <p:cNvSpPr/>
          <p:nvPr/>
        </p:nvSpPr>
        <p:spPr>
          <a:xfrm>
            <a:off x="6318503" y="5257799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39712" y="5166359"/>
            <a:ext cx="44074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1">
                <a:solidFill>
                  <a:srgbClr val="002060"/>
                </a:solidFill>
                <a:latin typeface="Calibri"/>
              </a:rPr>
              <a:t>Stop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Architecture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DBMS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pic>
        <p:nvPicPr>
          <p:cNvPr id="8" name="Picture 7" descr="3_system_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0214" y="1188720"/>
            <a:ext cx="7379378" cy="3429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1248" y="4846320"/>
            <a:ext cx="3346704" cy="109728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978408" y="512064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aLaptopCode_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9108" y="5241340"/>
            <a:ext cx="261518" cy="26151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18488" y="4846320"/>
            <a:ext cx="2478024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FFFFFF"/>
                </a:solidFill>
                <a:latin typeface="Calibri"/>
              </a:rPr>
              <a:t>Frontend · Port 5500</a:t>
            </a:r>
          </a:p>
          <a:p>
            <a:pPr algn="l"/>
            <a:r>
              <a:rPr sz="1250" b="0">
                <a:solidFill>
                  <a:srgbClr val="E2F0D9"/>
                </a:solidFill>
                <a:latin typeface="Calibri"/>
              </a:rPr>
              <a:t>HTML, CSS, JS pages; common.js sends API requests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6552" y="4846320"/>
            <a:ext cx="3346704" cy="109728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4553712" y="512064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FaServer_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4412" y="5241340"/>
            <a:ext cx="261518" cy="26151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193792" y="4846320"/>
            <a:ext cx="2478024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FFFFFF"/>
                </a:solidFill>
                <a:latin typeface="Calibri"/>
              </a:rPr>
              <a:t>Backend · Port 8000</a:t>
            </a:r>
          </a:p>
          <a:p>
            <a:pPr algn="l"/>
            <a:r>
              <a:rPr sz="1250" b="0">
                <a:solidFill>
                  <a:srgbClr val="E2F0D9"/>
                </a:solidFill>
                <a:latin typeface="Calibri"/>
              </a:rPr>
              <a:t>FastAPI validates input, calculates, runs SQL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91856" y="4846320"/>
            <a:ext cx="3346704" cy="109728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8129016" y="512064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FaDatabase_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49716" y="5241340"/>
            <a:ext cx="261518" cy="26151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769096" y="4846320"/>
            <a:ext cx="2478024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FFFFFF"/>
                </a:solidFill>
                <a:latin typeface="Calibri"/>
              </a:rPr>
              <a:t>Database · No port</a:t>
            </a:r>
          </a:p>
          <a:p>
            <a:pPr algn="l"/>
            <a:r>
              <a:rPr sz="1250" b="0">
                <a:solidFill>
                  <a:srgbClr val="E2F0D9"/>
                </a:solidFill>
                <a:latin typeface="Calibri"/>
              </a:rPr>
              <a:t>SQLite file backend/solar.db stores all tables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Technologies Used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DBMS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" y="1325880"/>
            <a:ext cx="5111496" cy="96012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932688" y="1613916"/>
            <a:ext cx="384048" cy="38404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aHtml5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859" y="1706087"/>
            <a:ext cx="199704" cy="1997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53896" y="1325880"/>
            <a:ext cx="440740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002060"/>
                </a:solidFill>
                <a:latin typeface="Calibri"/>
              </a:rPr>
              <a:t>HTML</a:t>
            </a:r>
            <a:r>
              <a:rPr sz="1650" b="0">
                <a:solidFill>
                  <a:srgbClr val="1A1A1A"/>
                </a:solidFill>
                <a:latin typeface="Calibri"/>
              </a:rPr>
              <a:t>  –  Frontend – page structure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450591"/>
            <a:ext cx="5111496" cy="96012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932688" y="2738627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aPaintBrush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859" y="2830799"/>
            <a:ext cx="199704" cy="19970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453896" y="2450591"/>
            <a:ext cx="440740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002060"/>
                </a:solidFill>
                <a:latin typeface="Calibri"/>
              </a:rPr>
              <a:t>CSS</a:t>
            </a:r>
            <a:r>
              <a:rPr sz="1650" b="0">
                <a:solidFill>
                  <a:srgbClr val="1A1A1A"/>
                </a:solidFill>
                <a:latin typeface="Calibri"/>
              </a:rPr>
              <a:t>  –  Frontend – styling and layout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3575304"/>
            <a:ext cx="5111496" cy="96012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932688" y="3863340"/>
            <a:ext cx="384048" cy="38404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FaCod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859" y="3955511"/>
            <a:ext cx="199704" cy="19970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453896" y="3575304"/>
            <a:ext cx="440740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002060"/>
                </a:solidFill>
                <a:latin typeface="Calibri"/>
              </a:rPr>
              <a:t>JavaScript</a:t>
            </a:r>
            <a:r>
              <a:rPr sz="1650" b="0">
                <a:solidFill>
                  <a:srgbClr val="1A1A1A"/>
                </a:solidFill>
                <a:latin typeface="Calibri"/>
              </a:rPr>
              <a:t>  –  Frontend – API calls and dynamic display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4700016"/>
            <a:ext cx="5111496" cy="96012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932688" y="4988052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FaServer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859" y="5080223"/>
            <a:ext cx="199704" cy="19970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453896" y="4700016"/>
            <a:ext cx="440740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002060"/>
                </a:solidFill>
                <a:latin typeface="Calibri"/>
              </a:rPr>
              <a:t>FastAPI</a:t>
            </a:r>
            <a:r>
              <a:rPr sz="1650" b="0">
                <a:solidFill>
                  <a:srgbClr val="1A1A1A"/>
                </a:solidFill>
                <a:latin typeface="Calibri"/>
              </a:rPr>
              <a:t>  –  Backend – REST API development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27064" y="1325880"/>
            <a:ext cx="5111496" cy="96012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6318503" y="1613916"/>
            <a:ext cx="384048" cy="38404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aPython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0675" y="1706087"/>
            <a:ext cx="199704" cy="19970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839712" y="1325880"/>
            <a:ext cx="440740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002060"/>
                </a:solidFill>
                <a:latin typeface="Calibri"/>
              </a:rPr>
              <a:t>Python</a:t>
            </a:r>
            <a:r>
              <a:rPr sz="1650" b="0">
                <a:solidFill>
                  <a:srgbClr val="1A1A1A"/>
                </a:solidFill>
                <a:latin typeface="Calibri"/>
              </a:rPr>
              <a:t>  –  Backend – logic and calculations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7064" y="2450591"/>
            <a:ext cx="5111496" cy="96012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6318503" y="2738627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FaDatabase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0675" y="2830799"/>
            <a:ext cx="199704" cy="19970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839712" y="2450591"/>
            <a:ext cx="440740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002060"/>
                </a:solidFill>
                <a:latin typeface="Calibri"/>
              </a:rPr>
              <a:t>SQLite</a:t>
            </a:r>
            <a:r>
              <a:rPr sz="1650" b="0">
                <a:solidFill>
                  <a:srgbClr val="1A1A1A"/>
                </a:solidFill>
                <a:latin typeface="Calibri"/>
              </a:rPr>
              <a:t>  –  Database – stores project data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27064" y="3575304"/>
            <a:ext cx="5111496" cy="96012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6318503" y="3863340"/>
            <a:ext cx="384048" cy="38404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FaBook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10675" y="3955511"/>
            <a:ext cx="199704" cy="19970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839712" y="3575304"/>
            <a:ext cx="440740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002060"/>
                </a:solidFill>
                <a:latin typeface="Calibri"/>
              </a:rPr>
              <a:t>Swagger / OpenAPI</a:t>
            </a:r>
            <a:r>
              <a:rPr sz="1650" b="0">
                <a:solidFill>
                  <a:srgbClr val="1A1A1A"/>
                </a:solidFill>
                <a:latin typeface="Calibri"/>
              </a:rPr>
              <a:t>  –  Backend testing – tests API endpoints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27064" y="4700016"/>
            <a:ext cx="5111496" cy="96012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6318503" y="4988052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FaLaptopCode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0675" y="5080223"/>
            <a:ext cx="199704" cy="19970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839712" y="4700016"/>
            <a:ext cx="440740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002060"/>
                </a:solidFill>
                <a:latin typeface="Calibri"/>
              </a:rPr>
              <a:t>VS Code</a:t>
            </a:r>
            <a:r>
              <a:rPr sz="1650" b="0">
                <a:solidFill>
                  <a:srgbClr val="1A1A1A"/>
                </a:solidFill>
                <a:latin typeface="Calibri"/>
              </a:rPr>
              <a:t>  –  Development – code writing and running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Database Design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DBMS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" y="1234440"/>
            <a:ext cx="5760720" cy="420624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24128" y="1234440"/>
            <a:ext cx="54864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Times New Roman"/>
              </a:rPr>
              <a:t>Tables and Purpose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1737360"/>
            <a:ext cx="5760720" cy="420624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FaCheck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1828800"/>
            <a:ext cx="237744" cy="2377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44168" y="1737360"/>
            <a:ext cx="516636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02060"/>
                </a:solidFill>
                <a:latin typeface="Calibri"/>
              </a:rPr>
              <a:t>users</a:t>
            </a:r>
            <a:r>
              <a:rPr sz="1350" b="0">
                <a:solidFill>
                  <a:srgbClr val="1A1A1A"/>
                </a:solidFill>
                <a:latin typeface="Calibri"/>
              </a:rPr>
              <a:t>  –  user / admin details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2221991"/>
            <a:ext cx="5760720" cy="420624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FaCheck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2313432"/>
            <a:ext cx="237744" cy="2377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344168" y="2221991"/>
            <a:ext cx="516636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02060"/>
                </a:solidFill>
                <a:latin typeface="Calibri"/>
              </a:rPr>
              <a:t>solar_panels</a:t>
            </a:r>
            <a:r>
              <a:rPr sz="1350" b="0">
                <a:solidFill>
                  <a:srgbClr val="1A1A1A"/>
                </a:solidFill>
                <a:latin typeface="Calibri"/>
              </a:rPr>
              <a:t>  –  solar panel details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2706624"/>
            <a:ext cx="5760720" cy="420624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FaCheck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2798064"/>
            <a:ext cx="237744" cy="2377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344168" y="2706624"/>
            <a:ext cx="516636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02060"/>
                </a:solidFill>
                <a:latin typeface="Calibri"/>
              </a:rPr>
              <a:t>energy_readings</a:t>
            </a:r>
            <a:r>
              <a:rPr sz="1350" b="0">
                <a:solidFill>
                  <a:srgbClr val="1A1A1A"/>
                </a:solidFill>
                <a:latin typeface="Calibri"/>
              </a:rPr>
              <a:t>  –  daily generated and consumed energy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3191256"/>
            <a:ext cx="5760720" cy="420624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FaCheck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3282696"/>
            <a:ext cx="237744" cy="23774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344168" y="3191256"/>
            <a:ext cx="516636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02060"/>
                </a:solidFill>
                <a:latin typeface="Calibri"/>
              </a:rPr>
              <a:t>alerts</a:t>
            </a:r>
            <a:r>
              <a:rPr sz="1350" b="0">
                <a:solidFill>
                  <a:srgbClr val="1A1A1A"/>
                </a:solidFill>
                <a:latin typeface="Calibri"/>
              </a:rPr>
              <a:t>  –  low-efficiency alerts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" y="3675887"/>
            <a:ext cx="5760720" cy="420624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FaCheck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3767327"/>
            <a:ext cx="237744" cy="23774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44168" y="3675887"/>
            <a:ext cx="516636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02060"/>
                </a:solidFill>
                <a:latin typeface="Calibri"/>
              </a:rPr>
              <a:t>maintenance</a:t>
            </a:r>
            <a:r>
              <a:rPr sz="1350" b="0">
                <a:solidFill>
                  <a:srgbClr val="1A1A1A"/>
                </a:solidFill>
                <a:latin typeface="Calibri"/>
              </a:rPr>
              <a:t>  –  service / repair details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" y="4160520"/>
            <a:ext cx="5760720" cy="420624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024128" y="4160520"/>
            <a:ext cx="54864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Times New Roman"/>
              </a:rPr>
              <a:t>Relationships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1248" y="4645152"/>
            <a:ext cx="5760720" cy="292608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8" name="Picture 27" descr="FaCheck_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4672584"/>
            <a:ext cx="237744" cy="23774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344168" y="4645152"/>
            <a:ext cx="5166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002060"/>
                </a:solidFill>
                <a:latin typeface="Calibri"/>
              </a:rPr>
              <a:t>One user → many solar panels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1248" y="4974336"/>
            <a:ext cx="5760720" cy="292608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1" name="Picture 30" descr="FaCheck_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5001768"/>
            <a:ext cx="237744" cy="23774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344168" y="4974336"/>
            <a:ext cx="5166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002060"/>
                </a:solidFill>
                <a:latin typeface="Calibri"/>
              </a:rPr>
              <a:t>One solar panel → many energy readings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1248" y="5303520"/>
            <a:ext cx="5760720" cy="292608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4" name="Picture 33" descr="FaCheck_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5330952"/>
            <a:ext cx="237744" cy="23774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344168" y="5303520"/>
            <a:ext cx="5166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002060"/>
                </a:solidFill>
                <a:latin typeface="Calibri"/>
              </a:rPr>
              <a:t>One energy reading → zero or one alert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1248" y="5632704"/>
            <a:ext cx="5760720" cy="292608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7" name="Picture 36" descr="FaCheck_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5660136"/>
            <a:ext cx="237744" cy="23774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344168" y="5632704"/>
            <a:ext cx="5166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002060"/>
                </a:solidFill>
                <a:latin typeface="Calibri"/>
              </a:rPr>
              <a:t>One solar panel → many maintenance records</a:t>
            </a:r>
          </a:p>
        </p:txBody>
      </p:sp>
      <p:pic>
        <p:nvPicPr>
          <p:cNvPr id="39" name="Picture 38" descr="4_er_diagra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2280" y="1234440"/>
            <a:ext cx="4526280" cy="2646644"/>
          </a:xfrm>
          <a:prstGeom prst="rect">
            <a:avLst/>
          </a:prstGeom>
          <a:ln w="15875">
            <a:solidFill>
              <a:srgbClr val="9DC3E6"/>
            </a:solidFill>
          </a:ln>
        </p:spPr>
      </p:pic>
      <p:sp>
        <p:nvSpPr>
          <p:cNvPr id="40" name="Rounded Rectangle 39"/>
          <p:cNvSpPr/>
          <p:nvPr/>
        </p:nvSpPr>
        <p:spPr>
          <a:xfrm>
            <a:off x="6812280" y="4937760"/>
            <a:ext cx="4526280" cy="96012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949440" y="4937760"/>
            <a:ext cx="429768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A9D18E"/>
                </a:solidFill>
                <a:latin typeface="Calibri"/>
              </a:rPr>
              <a:t>Stored at: </a:t>
            </a:r>
            <a:r>
              <a:rPr sz="1250" b="0">
                <a:solidFill>
                  <a:srgbClr val="FFD966"/>
                </a:solidFill>
                <a:latin typeface="Courier New"/>
              </a:rPr>
              <a:t>backend/solar.db</a:t>
            </a:r>
          </a:p>
          <a:p>
            <a:pPr algn="l">
              <a:spcAft>
                <a:spcPts val="100"/>
              </a:spcAft>
            </a:pPr>
            <a:r>
              <a:rPr sz="1250" b="1">
                <a:solidFill>
                  <a:srgbClr val="A9D18E"/>
                </a:solidFill>
                <a:latin typeface="Calibri"/>
              </a:rPr>
              <a:t>Tables from: </a:t>
            </a:r>
            <a:r>
              <a:rPr sz="1250" b="0">
                <a:solidFill>
                  <a:srgbClr val="FFD966"/>
                </a:solidFill>
                <a:latin typeface="Courier New"/>
              </a:rPr>
              <a:t>backend/schema.sql</a:t>
            </a:r>
          </a:p>
          <a:p>
            <a:pPr algn="l"/>
            <a:r>
              <a:rPr sz="1250" b="0">
                <a:solidFill>
                  <a:srgbClr val="FFFFFF"/>
                </a:solidFill>
                <a:latin typeface="Calibri"/>
              </a:rPr>
              <a:t>Created automatically when the backend starts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/ Input Details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DBMS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" y="1234440"/>
            <a:ext cx="5760720" cy="420624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24128" y="1234440"/>
            <a:ext cx="54864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Times New Roman"/>
              </a:rPr>
              <a:t>Inputs Entered by the User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1737360"/>
            <a:ext cx="5760720" cy="896112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932688" y="1993391"/>
            <a:ext cx="384048" cy="38404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FaUser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859" y="2085563"/>
            <a:ext cx="199704" cy="1997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53896" y="1737360"/>
            <a:ext cx="5056632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02060"/>
                </a:solidFill>
                <a:latin typeface="Calibri"/>
              </a:rPr>
              <a:t>Users</a:t>
            </a:r>
            <a:r>
              <a:rPr sz="1350" b="0">
                <a:solidFill>
                  <a:srgbClr val="1A1A1A"/>
                </a:solidFill>
                <a:latin typeface="Calibri"/>
              </a:rPr>
              <a:t>  –  name, email, phone, city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2743200"/>
            <a:ext cx="5760720" cy="896112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932688" y="2999232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FaSolarPanel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859" y="3091403"/>
            <a:ext cx="199704" cy="19970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453896" y="2743200"/>
            <a:ext cx="5056632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02060"/>
                </a:solidFill>
                <a:latin typeface="Calibri"/>
              </a:rPr>
              <a:t>Solar Panels</a:t>
            </a:r>
            <a:r>
              <a:rPr sz="1350" b="0">
                <a:solidFill>
                  <a:srgbClr val="1A1A1A"/>
                </a:solidFill>
                <a:latin typeface="Calibri"/>
              </a:rPr>
              <a:t>  –  owner, panel name, location, capacity (kW), sunlight hours, cost per unit, status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3749039"/>
            <a:ext cx="5760720" cy="896112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932688" y="4005072"/>
            <a:ext cx="384048" cy="38404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FaBol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859" y="4097243"/>
            <a:ext cx="199704" cy="19970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453896" y="3749039"/>
            <a:ext cx="5056632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02060"/>
                </a:solidFill>
                <a:latin typeface="Calibri"/>
              </a:rPr>
              <a:t>Energy Readings</a:t>
            </a:r>
            <a:r>
              <a:rPr sz="1350" b="0">
                <a:solidFill>
                  <a:srgbClr val="1A1A1A"/>
                </a:solidFill>
                <a:latin typeface="Calibri"/>
              </a:rPr>
              <a:t>  –  panel, date, generated energy (kWh), consumed energy (kWh)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" y="4754880"/>
            <a:ext cx="5760720" cy="896112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932688" y="5010912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FaWrench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859" y="5103083"/>
            <a:ext cx="199704" cy="19970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453896" y="4754880"/>
            <a:ext cx="5056632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02060"/>
                </a:solidFill>
                <a:latin typeface="Calibri"/>
              </a:rPr>
              <a:t>Maintenance</a:t>
            </a:r>
            <a:r>
              <a:rPr sz="1350" b="0">
                <a:solidFill>
                  <a:srgbClr val="1A1A1A"/>
                </a:solidFill>
                <a:latin typeface="Calibri"/>
              </a:rPr>
              <a:t>  –  panel, work description, date, technician, cost, status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0" y="1234440"/>
            <a:ext cx="4480560" cy="420624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040880" y="1234440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Times New Roman"/>
              </a:rPr>
              <a:t>Sample Data Used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0" y="1737360"/>
            <a:ext cx="4480560" cy="658368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6949440" y="1874519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FaSolarPanel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1611" y="1966691"/>
            <a:ext cx="199704" cy="19970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470648" y="1737360"/>
            <a:ext cx="377647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02060"/>
                </a:solidFill>
                <a:latin typeface="Calibri"/>
              </a:rPr>
              <a:t>Rooftop Array A</a:t>
            </a:r>
            <a:r>
              <a:rPr sz="1300" b="0">
                <a:solidFill>
                  <a:srgbClr val="1A1A1A"/>
                </a:solidFill>
                <a:latin typeface="Calibri"/>
              </a:rPr>
              <a:t>  –  5 kW × 5.5 h = 27.5 kWh/day, ₹7/unit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0" y="2487168"/>
            <a:ext cx="4480560" cy="658368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6949440" y="2624327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FaSolarPanel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1611" y="2716499"/>
            <a:ext cx="199704" cy="19970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470648" y="2487168"/>
            <a:ext cx="377647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02060"/>
                </a:solidFill>
                <a:latin typeface="Calibri"/>
              </a:rPr>
              <a:t>Garage Panel B</a:t>
            </a:r>
            <a:r>
              <a:rPr sz="1300" b="0">
                <a:solidFill>
                  <a:srgbClr val="1A1A1A"/>
                </a:solidFill>
                <a:latin typeface="Calibri"/>
              </a:rPr>
              <a:t>  –  3 kW × 5.5 h = 16.5 kWh/day, ₹7/unit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0" y="3236976"/>
            <a:ext cx="4480560" cy="658368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6949440" y="3374136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FaSolarPanel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1611" y="3466307"/>
            <a:ext cx="199704" cy="19970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470648" y="3236976"/>
            <a:ext cx="377647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02060"/>
                </a:solidFill>
                <a:latin typeface="Calibri"/>
              </a:rPr>
              <a:t>Farm Array C</a:t>
            </a:r>
            <a:r>
              <a:rPr sz="1300" b="0">
                <a:solidFill>
                  <a:srgbClr val="1A1A1A"/>
                </a:solidFill>
                <a:latin typeface="Calibri"/>
              </a:rPr>
              <a:t>  –  10 kW × 6 h = 60 kWh/day, ₹6.5/unit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0" y="3977639"/>
            <a:ext cx="4480560" cy="566928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1" name="Picture 40" descr="FaCheck_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86016" y="4142231"/>
            <a:ext cx="237744" cy="23774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360920" y="3977639"/>
            <a:ext cx="3886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02060"/>
                </a:solidFill>
                <a:latin typeface="Calibri"/>
              </a:rPr>
              <a:t>2 users and 3 solar panels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58000" y="4636007"/>
            <a:ext cx="4480560" cy="566928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4" name="Picture 43" descr="FaCheck_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86016" y="4800599"/>
            <a:ext cx="237744" cy="237744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7360920" y="4636007"/>
            <a:ext cx="3886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02060"/>
                </a:solidFill>
                <a:latin typeface="Calibri"/>
              </a:rPr>
              <a:t>42 daily readings (30 Aug – 28 Sept 2026)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858000" y="5294375"/>
            <a:ext cx="4480560" cy="566928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7" name="Picture 46" descr="FaCheck_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86016" y="5458967"/>
            <a:ext cx="237744" cy="23774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7360920" y="5294375"/>
            <a:ext cx="3886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02060"/>
                </a:solidFill>
                <a:latin typeface="Calibri"/>
              </a:rPr>
              <a:t>7 low-efficiency alerts, 2 maintenance records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Implementation – Module 1: User &amp; Solar Panel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DBMS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" y="1280160"/>
            <a:ext cx="6035040" cy="713232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932688" y="1444751"/>
            <a:ext cx="384048" cy="38404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aUser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859" y="1536923"/>
            <a:ext cx="199704" cy="1997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53896" y="1280160"/>
            <a:ext cx="533095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02060"/>
                </a:solidFill>
                <a:latin typeface="Calibri"/>
              </a:rPr>
              <a:t>User Module</a:t>
            </a:r>
            <a:r>
              <a:rPr sz="1400" b="0">
                <a:solidFill>
                  <a:srgbClr val="1A1A1A"/>
                </a:solidFill>
                <a:latin typeface="Calibri"/>
              </a:rPr>
              <a:t>  –  stores user details (name, email, phone, city)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084831"/>
            <a:ext cx="6035040" cy="713232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932688" y="2249424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aSolarPanel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859" y="2341595"/>
            <a:ext cx="199704" cy="19970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453896" y="2084831"/>
            <a:ext cx="533095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02060"/>
                </a:solidFill>
                <a:latin typeface="Calibri"/>
              </a:rPr>
              <a:t>Solar Panel Module</a:t>
            </a:r>
            <a:r>
              <a:rPr sz="1400" b="0">
                <a:solidFill>
                  <a:srgbClr val="1A1A1A"/>
                </a:solidFill>
                <a:latin typeface="Calibri"/>
              </a:rPr>
              <a:t>  –  stores panel name, location, capacity, sunlight hours, cost per unit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2889504"/>
            <a:ext cx="6035040" cy="713232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932688" y="3054096"/>
            <a:ext cx="384048" cy="38404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FaLink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859" y="3146267"/>
            <a:ext cx="199704" cy="19970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453896" y="2889504"/>
            <a:ext cx="533095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02060"/>
                </a:solidFill>
                <a:latin typeface="Calibri"/>
              </a:rPr>
              <a:t>Relationship</a:t>
            </a:r>
            <a:r>
              <a:rPr sz="1400" b="0">
                <a:solidFill>
                  <a:srgbClr val="1A1A1A"/>
                </a:solidFill>
                <a:latin typeface="Calibri"/>
              </a:rPr>
              <a:t>  –  each panel is linked to its owner using user_id (foreign key)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3694176"/>
            <a:ext cx="6035040" cy="713232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932688" y="3858768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FaDatabas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859" y="3950939"/>
            <a:ext cx="199704" cy="19970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453896" y="3694176"/>
            <a:ext cx="533095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02060"/>
                </a:solidFill>
                <a:latin typeface="Calibri"/>
              </a:rPr>
              <a:t>DBMS</a:t>
            </a:r>
            <a:r>
              <a:rPr sz="1400" b="0">
                <a:solidFill>
                  <a:srgbClr val="1A1A1A"/>
                </a:solidFill>
                <a:latin typeface="Calibri"/>
              </a:rPr>
              <a:t>  –  tables, primary key, foreign key, constraints, INSERT / UPDATE / DELETE / SELECT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4572000"/>
            <a:ext cx="6035040" cy="1188719"/>
          </a:xfrm>
          <a:prstGeom prst="roundRect">
            <a:avLst>
              <a:gd name="adj" fmla="val 8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87552" y="46177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A9D18E"/>
                </a:solidFill>
                <a:latin typeface="Calibri"/>
              </a:rPr>
              <a:t>Code files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" y="4901184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D966"/>
                </a:solidFill>
                <a:latin typeface="Courier New"/>
              </a:rPr>
              <a:t>• database.py</a:t>
            </a:r>
            <a:r>
              <a:rPr sz="1200" b="0">
                <a:solidFill>
                  <a:srgbClr val="FFFFFF"/>
                </a:solidFill>
                <a:latin typeface="Calibri"/>
              </a:rPr>
              <a:t>  –  connects to SQLite, creates solar.db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" y="5175504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D966"/>
                </a:solidFill>
                <a:latin typeface="Courier New"/>
              </a:rPr>
              <a:t>• schema.sql</a:t>
            </a:r>
            <a:r>
              <a:rPr sz="1200" b="0">
                <a:solidFill>
                  <a:srgbClr val="FFFFFF"/>
                </a:solidFill>
                <a:latin typeface="Calibri"/>
              </a:rPr>
              <a:t>  –  creates all database tables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" y="5449824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D966"/>
                </a:solidFill>
                <a:latin typeface="Courier New"/>
              </a:rPr>
              <a:t>• models.py</a:t>
            </a:r>
            <a:r>
              <a:rPr sz="1200" b="0">
                <a:solidFill>
                  <a:srgbClr val="FFFFFF"/>
                </a:solidFill>
                <a:latin typeface="Calibri"/>
              </a:rPr>
              <a:t>  –  validates input data using Pydantic</a:t>
            </a:r>
          </a:p>
        </p:txBody>
      </p:sp>
      <p:pic>
        <p:nvPicPr>
          <p:cNvPr id="29" name="Picture 28" descr="z_panel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78040" y="1280160"/>
            <a:ext cx="4160520" cy="2487733"/>
          </a:xfrm>
          <a:prstGeom prst="rect">
            <a:avLst/>
          </a:prstGeom>
          <a:ln w="15875">
            <a:solidFill>
              <a:srgbClr val="9DC3E6"/>
            </a:solidFill>
          </a:ln>
        </p:spPr>
      </p:pic>
      <p:sp>
        <p:nvSpPr>
          <p:cNvPr id="30" name="TextBox 29"/>
          <p:cNvSpPr txBox="1"/>
          <p:nvPr/>
        </p:nvSpPr>
        <p:spPr>
          <a:xfrm>
            <a:off x="7178040" y="3813613"/>
            <a:ext cx="4160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595959"/>
                </a:solidFill>
                <a:latin typeface="Calibri"/>
              </a:rPr>
              <a:t>Solar Panels page</a:t>
            </a:r>
          </a:p>
        </p:txBody>
      </p:sp>
      <p:pic>
        <p:nvPicPr>
          <p:cNvPr id="31" name="Picture 30" descr="z_user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78040" y="4179373"/>
            <a:ext cx="4160520" cy="1413900"/>
          </a:xfrm>
          <a:prstGeom prst="rect">
            <a:avLst/>
          </a:prstGeom>
          <a:ln w="15875">
            <a:solidFill>
              <a:srgbClr val="9DC3E6"/>
            </a:solidFill>
          </a:ln>
        </p:spPr>
      </p:pic>
      <p:sp>
        <p:nvSpPr>
          <p:cNvPr id="32" name="TextBox 31"/>
          <p:cNvSpPr txBox="1"/>
          <p:nvPr/>
        </p:nvSpPr>
        <p:spPr>
          <a:xfrm>
            <a:off x="7178040" y="5638993"/>
            <a:ext cx="4160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595959"/>
                </a:solidFill>
                <a:latin typeface="Calibri"/>
              </a:rPr>
              <a:t>Users page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Implementation – Module 2: Energy &amp; Calculation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DBMS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" y="1234440"/>
            <a:ext cx="6035040" cy="475488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932688" y="1298448"/>
            <a:ext cx="347472" cy="347472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aBol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81" y="1381841"/>
            <a:ext cx="180685" cy="1806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17320" y="1234440"/>
            <a:ext cx="536752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02060"/>
                </a:solidFill>
                <a:latin typeface="Calibri"/>
              </a:rPr>
              <a:t>Energy Reading Module</a:t>
            </a:r>
            <a:r>
              <a:rPr sz="1400" b="0">
                <a:solidFill>
                  <a:srgbClr val="1A1A1A"/>
                </a:solidFill>
                <a:latin typeface="Calibri"/>
              </a:rPr>
              <a:t>  –  stores daily generated and consumed energy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1783080"/>
            <a:ext cx="6035040" cy="475488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932688" y="1847088"/>
            <a:ext cx="347472" cy="347472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aBalanceScal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81" y="1930481"/>
            <a:ext cx="180685" cy="18068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417320" y="1783080"/>
            <a:ext cx="536752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02060"/>
                </a:solidFill>
                <a:latin typeface="Calibri"/>
              </a:rPr>
              <a:t>Energy Balance = Energy Generated − Energy Consumed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2331720"/>
            <a:ext cx="6035040" cy="475488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932688" y="2395727"/>
            <a:ext cx="347472" cy="347472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FaSun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081" y="2479121"/>
            <a:ext cx="180685" cy="18068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417320" y="2331720"/>
            <a:ext cx="536752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02060"/>
                </a:solidFill>
                <a:latin typeface="Calibri"/>
              </a:rPr>
              <a:t>Expected Energy = Panel Capacity × Sunlight Hours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2880360"/>
            <a:ext cx="6035040" cy="475488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932688" y="2944368"/>
            <a:ext cx="347472" cy="347472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FaTachometerAlt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6081" y="3027761"/>
            <a:ext cx="180685" cy="18068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417320" y="2880360"/>
            <a:ext cx="536752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02060"/>
                </a:solidFill>
                <a:latin typeface="Calibri"/>
              </a:rPr>
              <a:t>Efficiency (%) = Actual Energy Generated ÷ Expected Energy × 100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3429000"/>
            <a:ext cx="6035040" cy="475488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932688" y="3493008"/>
            <a:ext cx="347472" cy="347472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aRupeeSign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6081" y="3576401"/>
            <a:ext cx="180685" cy="18068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417320" y="3429000"/>
            <a:ext cx="536752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02060"/>
                </a:solidFill>
                <a:latin typeface="Calibri"/>
              </a:rPr>
              <a:t>Savings = Energy Generated × Cost per Unit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248" y="3977639"/>
            <a:ext cx="6035040" cy="475488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932688" y="4041648"/>
            <a:ext cx="347472" cy="347472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FaBell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6081" y="4125041"/>
            <a:ext cx="180685" cy="18068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417320" y="3977639"/>
            <a:ext cx="536752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02060"/>
                </a:solidFill>
                <a:latin typeface="Calibri"/>
              </a:rPr>
              <a:t>Alert Rule: if Efficiency &lt; 60%, generate Low-Efficiency Alert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1248" y="4526280"/>
            <a:ext cx="6035040" cy="384048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60120" y="4526280"/>
            <a:ext cx="5852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2E7D32"/>
                </a:solidFill>
                <a:latin typeface="Calibri"/>
              </a:rPr>
              <a:t>Example: Farm Array C → 35 ÷ 60 × 100 = 58.33% (&lt; 60%) → alert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1248" y="5029200"/>
            <a:ext cx="6035040" cy="914400"/>
          </a:xfrm>
          <a:prstGeom prst="roundRect">
            <a:avLst>
              <a:gd name="adj" fmla="val 8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87552" y="50749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A9D18E"/>
                </a:solidFill>
                <a:latin typeface="Calibri"/>
              </a:rPr>
              <a:t>Code files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" y="5358384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D966"/>
                </a:solidFill>
                <a:latin typeface="Courier New"/>
              </a:rPr>
              <a:t>• algorithm.py</a:t>
            </a:r>
            <a:r>
              <a:rPr sz="1200" b="0">
                <a:solidFill>
                  <a:srgbClr val="FFFFFF"/>
                </a:solidFill>
                <a:latin typeface="Calibri"/>
              </a:rPr>
              <a:t>  –  contains calculation functions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" y="5632704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D966"/>
                </a:solidFill>
                <a:latin typeface="Courier New"/>
              </a:rPr>
              <a:t>• add-reading.html</a:t>
            </a:r>
            <a:r>
              <a:rPr sz="1200" b="0">
                <a:solidFill>
                  <a:srgbClr val="FFFFFF"/>
                </a:solidFill>
                <a:latin typeface="Calibri"/>
              </a:rPr>
              <a:t>  –  page to enter generated and consumed energy</a:t>
            </a:r>
          </a:p>
        </p:txBody>
      </p:sp>
      <p:pic>
        <p:nvPicPr>
          <p:cNvPr id="38" name="Picture 37" descr="z_reading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78040" y="1280160"/>
            <a:ext cx="4160520" cy="2633849"/>
          </a:xfrm>
          <a:prstGeom prst="rect">
            <a:avLst/>
          </a:prstGeom>
          <a:ln w="15875">
            <a:solidFill>
              <a:srgbClr val="9DC3E6"/>
            </a:solidFill>
          </a:ln>
        </p:spPr>
      </p:pic>
      <p:sp>
        <p:nvSpPr>
          <p:cNvPr id="39" name="TextBox 38"/>
          <p:cNvSpPr txBox="1"/>
          <p:nvPr/>
        </p:nvSpPr>
        <p:spPr>
          <a:xfrm>
            <a:off x="7178040" y="3959729"/>
            <a:ext cx="4160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595959"/>
                </a:solidFill>
                <a:latin typeface="Calibri"/>
              </a:rPr>
              <a:t>Energy Readings page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Implementation – Module 3: Reports &amp; Alerts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DBMS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" y="1234440"/>
            <a:ext cx="6035040" cy="54864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932688" y="1316736"/>
            <a:ext cx="384048" cy="38404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aTachometerAl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859" y="1408907"/>
            <a:ext cx="199704" cy="1997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53896" y="1234440"/>
            <a:ext cx="533095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02060"/>
                </a:solidFill>
                <a:latin typeface="Calibri"/>
              </a:rPr>
              <a:t>Dashboard Module</a:t>
            </a:r>
            <a:r>
              <a:rPr sz="1400" b="0">
                <a:solidFill>
                  <a:srgbClr val="1A1A1A"/>
                </a:solidFill>
                <a:latin typeface="Calibri"/>
              </a:rPr>
              <a:t>  –  displays summary values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1874519"/>
            <a:ext cx="6035040" cy="54864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932688" y="1956815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aFileAl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859" y="2048987"/>
            <a:ext cx="199704" cy="19970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453896" y="1874519"/>
            <a:ext cx="533095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02060"/>
                </a:solidFill>
                <a:latin typeface="Calibri"/>
              </a:rPr>
              <a:t>Reports Module</a:t>
            </a:r>
            <a:r>
              <a:rPr sz="1400" b="0">
                <a:solidFill>
                  <a:srgbClr val="1A1A1A"/>
                </a:solidFill>
                <a:latin typeface="Calibri"/>
              </a:rPr>
              <a:t>  –  daily, monthly, panel-wise, user-wise reports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2514600"/>
            <a:ext cx="6035040" cy="54864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932688" y="2596896"/>
            <a:ext cx="384048" cy="38404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FaBell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859" y="2689067"/>
            <a:ext cx="199704" cy="19970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453896" y="2514600"/>
            <a:ext cx="533095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02060"/>
                </a:solidFill>
                <a:latin typeface="Calibri"/>
              </a:rPr>
              <a:t>Alerts Module</a:t>
            </a:r>
            <a:r>
              <a:rPr sz="1400" b="0">
                <a:solidFill>
                  <a:srgbClr val="1A1A1A"/>
                </a:solidFill>
                <a:latin typeface="Calibri"/>
              </a:rPr>
              <a:t>  –  shows low-efficiency alerts (efficiency &lt; 60%)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3154679"/>
            <a:ext cx="6035040" cy="54864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932688" y="3236975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FaWrench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859" y="3329147"/>
            <a:ext cx="199704" cy="19970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453896" y="3154679"/>
            <a:ext cx="533095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02060"/>
                </a:solidFill>
                <a:latin typeface="Calibri"/>
              </a:rPr>
              <a:t>Maintenance Module</a:t>
            </a:r>
            <a:r>
              <a:rPr sz="1400" b="0">
                <a:solidFill>
                  <a:srgbClr val="1A1A1A"/>
                </a:solidFill>
                <a:latin typeface="Calibri"/>
              </a:rPr>
              <a:t>  –  stores service or repair records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3794760"/>
            <a:ext cx="6035040" cy="54864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932688" y="3877056"/>
            <a:ext cx="384048" cy="38404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aDatabase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4859" y="3969227"/>
            <a:ext cx="199704" cy="19970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453896" y="3794760"/>
            <a:ext cx="533095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02060"/>
                </a:solidFill>
                <a:latin typeface="Calibri"/>
              </a:rPr>
              <a:t>DBMS</a:t>
            </a:r>
            <a:r>
              <a:rPr sz="1400" b="0">
                <a:solidFill>
                  <a:srgbClr val="1A1A1A"/>
                </a:solidFill>
                <a:latin typeface="Calibri"/>
              </a:rPr>
              <a:t>  –  SQL queries, joins, SUM / AVG, GROUP BY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248" y="4572000"/>
            <a:ext cx="6035040" cy="1188719"/>
          </a:xfrm>
          <a:prstGeom prst="roundRect">
            <a:avLst>
              <a:gd name="adj" fmla="val 8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87552" y="46177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A9D18E"/>
                </a:solidFill>
                <a:latin typeface="Calibri"/>
              </a:rPr>
              <a:t>Code files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" y="4901184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D966"/>
                </a:solidFill>
                <a:latin typeface="Courier New"/>
              </a:rPr>
              <a:t>• main.py</a:t>
            </a:r>
            <a:r>
              <a:rPr sz="1200" b="0">
                <a:solidFill>
                  <a:srgbClr val="FFFFFF"/>
                </a:solidFill>
                <a:latin typeface="Calibri"/>
              </a:rPr>
              <a:t>  –  FastAPI routes and SQL queries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" y="5175504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D966"/>
                </a:solidFill>
                <a:latin typeface="Courier New"/>
              </a:rPr>
              <a:t>• reports.html</a:t>
            </a:r>
            <a:r>
              <a:rPr sz="1200" b="0">
                <a:solidFill>
                  <a:srgbClr val="FFFFFF"/>
                </a:solidFill>
                <a:latin typeface="Calibri"/>
              </a:rPr>
              <a:t>  –  daily, monthly, panel-wise, user-wise reports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" y="5449824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D966"/>
                </a:solidFill>
                <a:latin typeface="Courier New"/>
              </a:rPr>
              <a:t>• common.js</a:t>
            </a:r>
            <a:r>
              <a:rPr sz="1200" b="0">
                <a:solidFill>
                  <a:srgbClr val="FFFFFF"/>
                </a:solidFill>
                <a:latin typeface="Calibri"/>
              </a:rPr>
              <a:t>  –  connects frontend to backend using API URL</a:t>
            </a:r>
          </a:p>
        </p:txBody>
      </p:sp>
      <p:pic>
        <p:nvPicPr>
          <p:cNvPr id="33" name="Picture 32" descr="z_alert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50565" y="1280160"/>
            <a:ext cx="3815469" cy="2514600"/>
          </a:xfrm>
          <a:prstGeom prst="rect">
            <a:avLst/>
          </a:prstGeom>
          <a:ln w="15875">
            <a:solidFill>
              <a:srgbClr val="9DC3E6"/>
            </a:solidFill>
          </a:ln>
        </p:spPr>
      </p:pic>
      <p:sp>
        <p:nvSpPr>
          <p:cNvPr id="34" name="TextBox 33"/>
          <p:cNvSpPr txBox="1"/>
          <p:nvPr/>
        </p:nvSpPr>
        <p:spPr>
          <a:xfrm>
            <a:off x="7178040" y="3840480"/>
            <a:ext cx="4160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595959"/>
                </a:solidFill>
                <a:latin typeface="Calibri"/>
              </a:rPr>
              <a:t>Alerts page</a:t>
            </a:r>
          </a:p>
        </p:txBody>
      </p:sp>
      <p:pic>
        <p:nvPicPr>
          <p:cNvPr id="35" name="Picture 34" descr="z_main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91900" y="4206240"/>
            <a:ext cx="3932799" cy="1600200"/>
          </a:xfrm>
          <a:prstGeom prst="rect">
            <a:avLst/>
          </a:prstGeom>
          <a:ln w="15875">
            <a:solidFill>
              <a:srgbClr val="9DC3E6"/>
            </a:solidFill>
          </a:ln>
        </p:spPr>
      </p:pic>
      <p:sp>
        <p:nvSpPr>
          <p:cNvPr id="36" name="TextBox 35"/>
          <p:cNvSpPr txBox="1"/>
          <p:nvPr/>
        </p:nvSpPr>
        <p:spPr>
          <a:xfrm>
            <a:off x="7178040" y="5852160"/>
            <a:ext cx="4160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595959"/>
                </a:solidFill>
                <a:latin typeface="Calibri"/>
              </a:rPr>
              <a:t>Maintenance page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DBMS Concepts Used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DBMS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" y="1325880"/>
            <a:ext cx="5111496" cy="96012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932688" y="1613916"/>
            <a:ext cx="384048" cy="38404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aTabl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859" y="1706087"/>
            <a:ext cx="199704" cy="1997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53896" y="1325880"/>
            <a:ext cx="440740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2060"/>
                </a:solidFill>
                <a:latin typeface="Calibri"/>
              </a:rPr>
              <a:t>Tables</a:t>
            </a:r>
            <a:r>
              <a:rPr sz="1500" b="0">
                <a:solidFill>
                  <a:srgbClr val="1A1A1A"/>
                </a:solidFill>
                <a:latin typeface="Calibri"/>
              </a:rPr>
              <a:t>  –  users, solar_panels, energy_readings, alerts, maintenance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450591"/>
            <a:ext cx="5111496" cy="96012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932688" y="2738627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aKey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859" y="2830799"/>
            <a:ext cx="199704" cy="19970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453896" y="2450591"/>
            <a:ext cx="440740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2060"/>
                </a:solidFill>
                <a:latin typeface="Calibri"/>
              </a:rPr>
              <a:t>Primary Keys</a:t>
            </a:r>
            <a:r>
              <a:rPr sz="1500" b="0">
                <a:solidFill>
                  <a:srgbClr val="1A1A1A"/>
                </a:solidFill>
                <a:latin typeface="Calibri"/>
              </a:rPr>
              <a:t>  –  user_id, panel_id, reading_id, alert_id, maintenance_id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3575304"/>
            <a:ext cx="5111496" cy="96012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932688" y="3863340"/>
            <a:ext cx="384048" cy="38404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FaLink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859" y="3955511"/>
            <a:ext cx="199704" cy="19970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453896" y="3575304"/>
            <a:ext cx="440740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2060"/>
                </a:solidFill>
                <a:latin typeface="Calibri"/>
              </a:rPr>
              <a:t>Foreign Keys</a:t>
            </a:r>
            <a:r>
              <a:rPr sz="1500" b="0">
                <a:solidFill>
                  <a:srgbClr val="1A1A1A"/>
                </a:solidFill>
                <a:latin typeface="Calibri"/>
              </a:rPr>
              <a:t>  –  user_id in solar_panels; panel_id in readings, alerts, maintenance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4700016"/>
            <a:ext cx="5111496" cy="96012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932688" y="4988052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FaClipboardCheck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859" y="5080223"/>
            <a:ext cx="199704" cy="19970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453896" y="4700016"/>
            <a:ext cx="440740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2060"/>
                </a:solidFill>
                <a:latin typeface="Calibri"/>
              </a:rPr>
              <a:t>Constraints</a:t>
            </a:r>
            <a:r>
              <a:rPr sz="1500" b="0">
                <a:solidFill>
                  <a:srgbClr val="1A1A1A"/>
                </a:solidFill>
                <a:latin typeface="Calibri"/>
              </a:rPr>
              <a:t>  –  keys and required fields defined in schema.sql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27064" y="1325880"/>
            <a:ext cx="5111496" cy="96012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6318503" y="1613916"/>
            <a:ext cx="384048" cy="38404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aDatabase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0675" y="1706087"/>
            <a:ext cx="199704" cy="19970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839712" y="1325880"/>
            <a:ext cx="440740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2060"/>
                </a:solidFill>
                <a:latin typeface="Calibri"/>
              </a:rPr>
              <a:t>SQL Queries</a:t>
            </a:r>
            <a:r>
              <a:rPr sz="1500" b="0">
                <a:solidFill>
                  <a:srgbClr val="1A1A1A"/>
                </a:solidFill>
                <a:latin typeface="Calibri"/>
              </a:rPr>
              <a:t>  –  INSERT readings, UPDATE alert status, DELETE panels, SELECT data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7064" y="2450591"/>
            <a:ext cx="5111496" cy="96012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6318503" y="2738627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FaExchangeAlt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0675" y="2830799"/>
            <a:ext cx="199704" cy="19970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839712" y="2450591"/>
            <a:ext cx="440740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2060"/>
                </a:solidFill>
                <a:latin typeface="Calibri"/>
              </a:rPr>
              <a:t>Joins</a:t>
            </a:r>
            <a:r>
              <a:rPr sz="1500" b="0">
                <a:solidFill>
                  <a:srgbClr val="1A1A1A"/>
                </a:solidFill>
                <a:latin typeface="Calibri"/>
              </a:rPr>
              <a:t>  –  panels with users (owner); readings with panels (reports)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27064" y="3575304"/>
            <a:ext cx="5111496" cy="96012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6318503" y="3863340"/>
            <a:ext cx="384048" cy="38404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FaFileAlt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10675" y="3955511"/>
            <a:ext cx="199704" cy="19970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839712" y="3575304"/>
            <a:ext cx="440740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2060"/>
                </a:solidFill>
                <a:latin typeface="Calibri"/>
              </a:rPr>
              <a:t>Reports</a:t>
            </a:r>
            <a:r>
              <a:rPr sz="1500" b="0">
                <a:solidFill>
                  <a:srgbClr val="1A1A1A"/>
                </a:solidFill>
                <a:latin typeface="Calibri"/>
              </a:rPr>
              <a:t>  –  daily, monthly, panel-wise, user-wise reports page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27064" y="4700016"/>
            <a:ext cx="5111496" cy="96012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6318503" y="4988052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FaCalculator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0675" y="5080223"/>
            <a:ext cx="199704" cy="19970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839712" y="4700016"/>
            <a:ext cx="440740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2060"/>
                </a:solidFill>
                <a:latin typeface="Calibri"/>
              </a:rPr>
              <a:t>Aggregations</a:t>
            </a:r>
            <a:r>
              <a:rPr sz="1500" b="0">
                <a:solidFill>
                  <a:srgbClr val="1A1A1A"/>
                </a:solidFill>
                <a:latin typeface="Calibri"/>
              </a:rPr>
              <a:t>  –  SUM and AVG for totals and average efficiency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Experimental Setup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DBMS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" y="1234440"/>
            <a:ext cx="10497312" cy="420624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24128" y="1234440"/>
            <a:ext cx="1022299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Times New Roman"/>
              </a:rPr>
              <a:t>Ports and URLs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1737360"/>
            <a:ext cx="10497312" cy="530352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932688" y="1810512"/>
            <a:ext cx="384048" cy="38404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FaLaptopCod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859" y="1902683"/>
            <a:ext cx="199704" cy="1997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53896" y="1737360"/>
            <a:ext cx="9793224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2060"/>
                </a:solidFill>
                <a:latin typeface="Calibri"/>
              </a:rPr>
              <a:t>Port 5500 · Frontend website</a:t>
            </a:r>
            <a:r>
              <a:rPr sz="1500" b="0">
                <a:solidFill>
                  <a:srgbClr val="1A1A1A"/>
                </a:solidFill>
                <a:latin typeface="Calibri"/>
              </a:rPr>
              <a:t>  –  http://127.0.0.1:5500/index.html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2350008"/>
            <a:ext cx="10497312" cy="530352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932688" y="2423160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FaServer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859" y="2515331"/>
            <a:ext cx="199704" cy="19970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453896" y="2350008"/>
            <a:ext cx="9793224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2060"/>
                </a:solidFill>
                <a:latin typeface="Calibri"/>
              </a:rPr>
              <a:t>Port 8000 · Backend FastAPI server</a:t>
            </a:r>
            <a:r>
              <a:rPr sz="1500" b="0">
                <a:solidFill>
                  <a:srgbClr val="1A1A1A"/>
                </a:solidFill>
                <a:latin typeface="Calibri"/>
              </a:rPr>
              <a:t>  –  http://127.0.0.1:8000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2962656"/>
            <a:ext cx="10497312" cy="530352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932688" y="3035808"/>
            <a:ext cx="384048" cy="38404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FaBook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859" y="3127979"/>
            <a:ext cx="199704" cy="19970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453896" y="2962656"/>
            <a:ext cx="9793224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2060"/>
                </a:solidFill>
                <a:latin typeface="Calibri"/>
              </a:rPr>
              <a:t>Port 8000/docs · Swagger API docs</a:t>
            </a:r>
            <a:r>
              <a:rPr sz="1500" b="0">
                <a:solidFill>
                  <a:srgbClr val="1A1A1A"/>
                </a:solidFill>
                <a:latin typeface="Calibri"/>
              </a:rPr>
              <a:t>  –  http://127.0.0.1:8000/docs  (test every API)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" y="3575303"/>
            <a:ext cx="10497312" cy="530352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932688" y="3648456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FaDatabas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859" y="3740627"/>
            <a:ext cx="199704" cy="19970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453896" y="3575303"/>
            <a:ext cx="9793224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2060"/>
                </a:solidFill>
                <a:latin typeface="Calibri"/>
              </a:rPr>
              <a:t>No port · SQLite database</a:t>
            </a:r>
            <a:r>
              <a:rPr sz="1500" b="0">
                <a:solidFill>
                  <a:srgbClr val="1A1A1A"/>
                </a:solidFill>
                <a:latin typeface="Calibri"/>
              </a:rPr>
              <a:t>  –  local file backend/solar.db, created automatically when the backend starts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1248" y="4251960"/>
            <a:ext cx="10497312" cy="420624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024128" y="4251960"/>
            <a:ext cx="1022299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Times New Roman"/>
              </a:rPr>
              <a:t>Environment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248" y="4754880"/>
            <a:ext cx="5111496" cy="50292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932688" y="4818888"/>
            <a:ext cx="374904" cy="374904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FaCode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2664" y="4908864"/>
            <a:ext cx="194950" cy="1949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444752" y="4754880"/>
            <a:ext cx="441655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2060"/>
                </a:solidFill>
                <a:latin typeface="Calibri"/>
              </a:rPr>
              <a:t>Development tool</a:t>
            </a:r>
            <a:r>
              <a:rPr sz="1500" b="0">
                <a:solidFill>
                  <a:srgbClr val="1A1A1A"/>
                </a:solidFill>
                <a:latin typeface="Calibri"/>
              </a:rPr>
              <a:t>  –  VS Code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1248" y="5349240"/>
            <a:ext cx="5111496" cy="50292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932688" y="5413248"/>
            <a:ext cx="374904" cy="374904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FaChrome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2664" y="5503224"/>
            <a:ext cx="194950" cy="19495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444752" y="5349240"/>
            <a:ext cx="441655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2060"/>
                </a:solidFill>
                <a:latin typeface="Calibri"/>
              </a:rPr>
              <a:t>Browser</a:t>
            </a:r>
            <a:r>
              <a:rPr sz="1500" b="0">
                <a:solidFill>
                  <a:srgbClr val="1A1A1A"/>
                </a:solidFill>
                <a:latin typeface="Calibri"/>
              </a:rPr>
              <a:t>  –  Chrome / Edge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27064" y="4754880"/>
            <a:ext cx="5111496" cy="50292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6318503" y="4818888"/>
            <a:ext cx="374904" cy="37490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FaTable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8480" y="4908864"/>
            <a:ext cx="194950" cy="19495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830568" y="4754880"/>
            <a:ext cx="441655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2060"/>
                </a:solidFill>
                <a:latin typeface="Calibri"/>
              </a:rPr>
              <a:t>Table structure</a:t>
            </a:r>
            <a:r>
              <a:rPr sz="1500" b="0">
                <a:solidFill>
                  <a:srgbClr val="1A1A1A"/>
                </a:solidFill>
                <a:latin typeface="Calibri"/>
              </a:rPr>
              <a:t>  –  backend/schema.sql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27064" y="5349240"/>
            <a:ext cx="5111496" cy="50292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6318503" y="5413248"/>
            <a:ext cx="374904" cy="37490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FaVial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8480" y="5503224"/>
            <a:ext cx="194950" cy="19495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830568" y="5349240"/>
            <a:ext cx="441655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2060"/>
                </a:solidFill>
                <a:latin typeface="Calibri"/>
              </a:rPr>
              <a:t>Test data</a:t>
            </a:r>
            <a:r>
              <a:rPr sz="1500" b="0">
                <a:solidFill>
                  <a:srgbClr val="1A1A1A"/>
                </a:solidFill>
                <a:latin typeface="Calibri"/>
              </a:rPr>
              <a:t>  –  2 users, 3 panels, 42 readings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DBMS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248" y="11887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595959"/>
                </a:solidFill>
                <a:latin typeface="Calibri"/>
              </a:rPr>
              <a:t>Report period: 30 Aug – 28 Sept 2026  ·  42 readings  ·  3 panels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1645920"/>
            <a:ext cx="304038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42416" y="1755648"/>
            <a:ext cx="26746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Calibri"/>
              </a:rPr>
              <a:t>Total Energy Generated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" y="2057400"/>
            <a:ext cx="26746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Calibri"/>
              </a:rPr>
              <a:t>1,068</a:t>
            </a:r>
            <a:r>
              <a:rPr sz="1400" b="0">
                <a:solidFill>
                  <a:srgbClr val="595959"/>
                </a:solidFill>
                <a:latin typeface="Calibri"/>
              </a:rPr>
              <a:t>  kWh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0228" y="1645920"/>
            <a:ext cx="304038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311396" y="1755648"/>
            <a:ext cx="26746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Calibri"/>
              </a:rPr>
              <a:t>Total Energy Consumed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1396" y="2057400"/>
            <a:ext cx="26746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Calibri"/>
              </a:rPr>
              <a:t>827</a:t>
            </a:r>
            <a:r>
              <a:rPr sz="1400" b="0">
                <a:solidFill>
                  <a:srgbClr val="595959"/>
                </a:solidFill>
                <a:latin typeface="Calibri"/>
              </a:rPr>
              <a:t>  kWh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2889504"/>
            <a:ext cx="304038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42416" y="2999232"/>
            <a:ext cx="26746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Calibri"/>
              </a:rPr>
              <a:t>Energy Balance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" y="3300984"/>
            <a:ext cx="26746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2E7D32"/>
                </a:solidFill>
                <a:latin typeface="Calibri"/>
              </a:rPr>
              <a:t>+241</a:t>
            </a:r>
            <a:r>
              <a:rPr sz="1400" b="0">
                <a:solidFill>
                  <a:srgbClr val="595959"/>
                </a:solidFill>
                <a:latin typeface="Calibri"/>
              </a:rPr>
              <a:t>  kWh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0228" y="2889504"/>
            <a:ext cx="304038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311396" y="2999232"/>
            <a:ext cx="26746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Calibri"/>
              </a:rPr>
              <a:t>Average Efficiency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1396" y="3300984"/>
            <a:ext cx="26746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2E7D32"/>
                </a:solidFill>
                <a:latin typeface="Calibri"/>
              </a:rPr>
              <a:t>73.45</a:t>
            </a:r>
            <a:r>
              <a:rPr sz="1400" b="0">
                <a:solidFill>
                  <a:srgbClr val="595959"/>
                </a:solidFill>
                <a:latin typeface="Calibri"/>
              </a:rPr>
              <a:t>  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" y="4133087"/>
            <a:ext cx="304038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042416" y="4242816"/>
            <a:ext cx="26746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Calibri"/>
              </a:rPr>
              <a:t>Total Savings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" y="4544568"/>
            <a:ext cx="26746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2E7D32"/>
                </a:solidFill>
                <a:latin typeface="Calibri"/>
              </a:rPr>
              <a:t>₹7,170.5</a:t>
            </a:r>
            <a:r>
              <a:rPr sz="1400" b="0">
                <a:solidFill>
                  <a:srgbClr val="595959"/>
                </a:solidFill>
                <a:latin typeface="Calibri"/>
              </a:rPr>
              <a:t>  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0228" y="4133087"/>
            <a:ext cx="304038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311396" y="4242816"/>
            <a:ext cx="26746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Calibri"/>
              </a:rPr>
              <a:t>Alerts Generated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11396" y="4544568"/>
            <a:ext cx="26746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C00000"/>
                </a:solidFill>
                <a:latin typeface="Calibri"/>
              </a:rPr>
              <a:t>7</a:t>
            </a:r>
            <a:r>
              <a:rPr sz="1400" b="0">
                <a:solidFill>
                  <a:srgbClr val="595959"/>
                </a:solidFill>
                <a:latin typeface="Calibri"/>
              </a:rPr>
              <a:t>  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1248" y="5440680"/>
            <a:ext cx="6309360" cy="54864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005840" y="544068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02060"/>
                </a:solidFill>
                <a:latin typeface="Calibri"/>
              </a:rPr>
              <a:t>The system stores data, calculates values, generates alerts, and displays reports correctly.</a:t>
            </a:r>
          </a:p>
        </p:txBody>
      </p:sp>
      <p:pic>
        <p:nvPicPr>
          <p:cNvPr id="29" name="Picture 28" descr="z_repor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1280160"/>
            <a:ext cx="3977639" cy="2618234"/>
          </a:xfrm>
          <a:prstGeom prst="rect">
            <a:avLst/>
          </a:prstGeom>
          <a:ln w="15875">
            <a:solidFill>
              <a:srgbClr val="9DC3E6"/>
            </a:solidFill>
          </a:ln>
        </p:spPr>
      </p:pic>
      <p:sp>
        <p:nvSpPr>
          <p:cNvPr id="30" name="TextBox 29"/>
          <p:cNvSpPr txBox="1"/>
          <p:nvPr/>
        </p:nvSpPr>
        <p:spPr>
          <a:xfrm>
            <a:off x="7360920" y="3944114"/>
            <a:ext cx="3977639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595959"/>
                </a:solidFill>
                <a:latin typeface="Calibri"/>
              </a:rPr>
              <a:t>Reports page (source of results)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Performance Evaluation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DBMS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" y="1280160"/>
            <a:ext cx="10497312" cy="64008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932688" y="1408175"/>
            <a:ext cx="384048" cy="38404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53896" y="1280160"/>
            <a:ext cx="979322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Calibri"/>
              </a:rPr>
              <a:t>✔ Formula Accuracy</a:t>
            </a:r>
            <a:r>
              <a:rPr sz="1600" b="0">
                <a:solidFill>
                  <a:srgbClr val="1A1A1A"/>
                </a:solidFill>
                <a:latin typeface="Calibri"/>
              </a:rPr>
              <a:t>  –  Farm Array C: 35 ÷ 60 × 100 = 58.33%, same as the 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039112"/>
            <a:ext cx="10497312" cy="64008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32688" y="2167128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53896" y="2039112"/>
            <a:ext cx="979322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Calibri"/>
              </a:rPr>
              <a:t>✔ Database Accuracy</a:t>
            </a:r>
            <a:r>
              <a:rPr sz="1600" b="0">
                <a:solidFill>
                  <a:srgbClr val="1A1A1A"/>
                </a:solidFill>
                <a:latin typeface="Calibri"/>
              </a:rPr>
              <a:t>  –  42 readings, 3 panels, 2 users stored and retrieved correctly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2798063"/>
            <a:ext cx="10497312" cy="64008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932688" y="2926079"/>
            <a:ext cx="384048" cy="38404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6" y="2798063"/>
            <a:ext cx="979322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Calibri"/>
              </a:rPr>
              <a:t>✔ API Accuracy</a:t>
            </a:r>
            <a:r>
              <a:rPr sz="1600" b="0">
                <a:solidFill>
                  <a:srgbClr val="1A1A1A"/>
                </a:solidFill>
                <a:latin typeface="Calibri"/>
              </a:rPr>
              <a:t>  –  frontend (5500) fetches data from backend (8000); status shows Connected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" y="3557015"/>
            <a:ext cx="10497312" cy="64008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932688" y="3685031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53896" y="3557015"/>
            <a:ext cx="979322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Calibri"/>
              </a:rPr>
              <a:t>✔ Alert Accuracy</a:t>
            </a:r>
            <a:r>
              <a:rPr sz="1600" b="0">
                <a:solidFill>
                  <a:srgbClr val="1A1A1A"/>
                </a:solidFill>
                <a:latin typeface="Calibri"/>
              </a:rPr>
              <a:t>  –  all 7 alerts are below 60% (lowest 36.36%)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4315968"/>
            <a:ext cx="10497312" cy="64008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932688" y="4443983"/>
            <a:ext cx="384048" cy="38404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53896" y="4315968"/>
            <a:ext cx="979322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Calibri"/>
              </a:rPr>
              <a:t>✔ Report Accuracy</a:t>
            </a:r>
            <a:r>
              <a:rPr sz="1600" b="0">
                <a:solidFill>
                  <a:srgbClr val="1A1A1A"/>
                </a:solidFill>
                <a:latin typeface="Calibri"/>
              </a:rPr>
              <a:t>  –  1,068 − 827 = +241 kWh matches the report balance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" y="5074919"/>
            <a:ext cx="10497312" cy="64008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32688" y="5202935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53896" y="5074919"/>
            <a:ext cx="979322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Calibri"/>
              </a:rPr>
              <a:t>✔ Dashboard Accuracy</a:t>
            </a:r>
            <a:r>
              <a:rPr sz="1600" b="0">
                <a:solidFill>
                  <a:srgbClr val="1A1A1A"/>
                </a:solidFill>
                <a:latin typeface="Calibri"/>
              </a:rPr>
              <a:t>  –  savings ₹7,170.5 is the same on the home page and reports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Screenshots / Working Demo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DBMS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pic>
        <p:nvPicPr>
          <p:cNvPr id="8" name="Picture 7" descr="z_ho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018" y="1234440"/>
            <a:ext cx="4605095" cy="3017520"/>
          </a:xfrm>
          <a:prstGeom prst="rect">
            <a:avLst/>
          </a:prstGeom>
          <a:ln w="15875">
            <a:solidFill>
              <a:srgbClr val="9DC3E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41248" y="4297680"/>
            <a:ext cx="508863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595959"/>
                </a:solidFill>
                <a:latin typeface="Calibri"/>
              </a:rPr>
              <a:t>Home page  ·  127.0.0.1:5500/index.html</a:t>
            </a:r>
          </a:p>
        </p:txBody>
      </p:sp>
      <p:pic>
        <p:nvPicPr>
          <p:cNvPr id="10" name="Picture 9" descr="z_dash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5611" y="1234440"/>
            <a:ext cx="4617260" cy="3017520"/>
          </a:xfrm>
          <a:prstGeom prst="rect">
            <a:avLst/>
          </a:prstGeom>
          <a:ln w="15875">
            <a:solidFill>
              <a:srgbClr val="9DC3E6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249924" y="4297680"/>
            <a:ext cx="508863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595959"/>
                </a:solidFill>
                <a:latin typeface="Calibri"/>
              </a:rPr>
              <a:t>Dashboard page  ·  algorithm steps and chart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4617720"/>
            <a:ext cx="2418588" cy="54864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914400" y="4727448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02060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16736" y="4617720"/>
            <a:ext cx="188823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Calibri"/>
              </a:rPr>
              <a:t>User opens frontend website</a:t>
            </a:r>
          </a:p>
        </p:txBody>
      </p:sp>
      <p:pic>
        <p:nvPicPr>
          <p:cNvPr id="15" name="Picture 14" descr="FaArrowRight_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05556" y="4791456"/>
            <a:ext cx="182880" cy="18288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3534156" y="4617720"/>
            <a:ext cx="2418588" cy="54864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3607308" y="4727448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02060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09644" y="4617720"/>
            <a:ext cx="188823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Calibri"/>
              </a:rPr>
              <a:t>Enters panel or reading details</a:t>
            </a:r>
          </a:p>
        </p:txBody>
      </p:sp>
      <p:pic>
        <p:nvPicPr>
          <p:cNvPr id="19" name="Picture 18" descr="FaArrowRight_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8464" y="4791456"/>
            <a:ext cx="182880" cy="1828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227064" y="4617720"/>
            <a:ext cx="2418588" cy="54864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6300216" y="4727448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02060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02552" y="4617720"/>
            <a:ext cx="188823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Calibri"/>
              </a:rPr>
              <a:t>JavaScript sends request to FastAPI</a:t>
            </a:r>
          </a:p>
        </p:txBody>
      </p:sp>
      <p:pic>
        <p:nvPicPr>
          <p:cNvPr id="23" name="Picture 22" descr="FaArrowRight_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91372" y="4791456"/>
            <a:ext cx="182880" cy="18288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8919972" y="4617720"/>
            <a:ext cx="2418588" cy="54864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8993124" y="4727448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02060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95459" y="4617720"/>
            <a:ext cx="188823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Calibri"/>
              </a:rPr>
              <a:t>Backend validates input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1248" y="5276088"/>
            <a:ext cx="2418588" cy="54864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914400" y="5385816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02060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16736" y="5276088"/>
            <a:ext cx="188823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Calibri"/>
              </a:rPr>
              <a:t>Stores data in SQLite</a:t>
            </a:r>
          </a:p>
        </p:txBody>
      </p:sp>
      <p:pic>
        <p:nvPicPr>
          <p:cNvPr id="30" name="Picture 29" descr="FaArrowRight_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05556" y="5449824"/>
            <a:ext cx="182880" cy="182880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3534156" y="5276088"/>
            <a:ext cx="2418588" cy="54864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3607308" y="5385816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02060"/>
                </a:solidFill>
                <a:latin typeface="Calibr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09644" y="5276088"/>
            <a:ext cx="188823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Calibri"/>
              </a:rPr>
              <a:t>Algorithm calculates values</a:t>
            </a:r>
          </a:p>
        </p:txBody>
      </p:sp>
      <p:pic>
        <p:nvPicPr>
          <p:cNvPr id="34" name="Picture 33" descr="FaArrowRight_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8464" y="5449824"/>
            <a:ext cx="182880" cy="182880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6227064" y="5276088"/>
            <a:ext cx="2418588" cy="54864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6300216" y="5385816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02060"/>
                </a:solidFill>
                <a:latin typeface="Calibri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02552" y="5276088"/>
            <a:ext cx="188823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Calibri"/>
              </a:rPr>
              <a:t>Alert if efficiency &lt; 60%</a:t>
            </a:r>
          </a:p>
        </p:txBody>
      </p:sp>
      <p:pic>
        <p:nvPicPr>
          <p:cNvPr id="38" name="Picture 37" descr="FaArrowRight_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91372" y="5449824"/>
            <a:ext cx="182880" cy="182880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8919972" y="5276088"/>
            <a:ext cx="2418588" cy="54864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8993124" y="5385816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02060"/>
                </a:solidFill>
                <a:latin typeface="Calibri"/>
              </a:rPr>
              <a:t>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95459" y="5276088"/>
            <a:ext cx="188823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Calibri"/>
              </a:rPr>
              <a:t>Frontend shows dashboard, reports, alerts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Comparison with Existing System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DBMS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" y="1234440"/>
            <a:ext cx="5111496" cy="420624"/>
          </a:xfrm>
          <a:prstGeom prst="roundRect">
            <a:avLst>
              <a:gd name="adj" fmla="val 8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24128" y="1234440"/>
            <a:ext cx="483717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Times New Roman"/>
              </a:rPr>
              <a:t>Existing / Manual System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7064" y="1234440"/>
            <a:ext cx="5111496" cy="420624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09944" y="1234440"/>
            <a:ext cx="483717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Times New Roman"/>
              </a:rPr>
              <a:t>Proposed System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1764792"/>
            <a:ext cx="5111496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05840" y="1764792"/>
            <a:ext cx="483717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0">
                <a:solidFill>
                  <a:srgbClr val="595959"/>
                </a:solidFill>
                <a:latin typeface="Calibri"/>
              </a:rPr>
              <a:t>✘  Data kept in notebooks or loose spreadsheets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7064" y="1764792"/>
            <a:ext cx="5111496" cy="493776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391655" y="1764792"/>
            <a:ext cx="483717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002060"/>
                </a:solidFill>
                <a:latin typeface="Calibri"/>
              </a:rPr>
              <a:t>✔  Data stored in SQL tables with keys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2350008"/>
            <a:ext cx="5111496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05840" y="2350008"/>
            <a:ext cx="483717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0">
                <a:solidFill>
                  <a:srgbClr val="595959"/>
                </a:solidFill>
                <a:latin typeface="Calibri"/>
              </a:rPr>
              <a:t>✘  Energy calculated by hand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7064" y="2350008"/>
            <a:ext cx="5111496" cy="493776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391655" y="2350008"/>
            <a:ext cx="483717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002060"/>
                </a:solidFill>
                <a:latin typeface="Calibri"/>
              </a:rPr>
              <a:t>✔  Balance and expected energy calculated automatically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2935224"/>
            <a:ext cx="5111496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005840" y="2935224"/>
            <a:ext cx="483717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0">
                <a:solidFill>
                  <a:srgbClr val="595959"/>
                </a:solidFill>
                <a:latin typeface="Calibri"/>
              </a:rPr>
              <a:t>✘  Efficiency rarely tracked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27064" y="2935224"/>
            <a:ext cx="5111496" cy="493776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391655" y="2935224"/>
            <a:ext cx="483717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002060"/>
                </a:solidFill>
                <a:latin typeface="Calibri"/>
              </a:rPr>
              <a:t>✔  Efficiency calculated for every reading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3520439"/>
            <a:ext cx="5111496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005840" y="3520439"/>
            <a:ext cx="483717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0">
                <a:solidFill>
                  <a:srgbClr val="595959"/>
                </a:solidFill>
                <a:latin typeface="Calibri"/>
              </a:rPr>
              <a:t>✘  Savings roughly estimated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27064" y="3520439"/>
            <a:ext cx="5111496" cy="493776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391655" y="3520439"/>
            <a:ext cx="483717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002060"/>
                </a:solidFill>
                <a:latin typeface="Calibri"/>
              </a:rPr>
              <a:t>✔  Savings = generated × cost per unit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248" y="4105656"/>
            <a:ext cx="5111496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005840" y="4105656"/>
            <a:ext cx="483717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0">
                <a:solidFill>
                  <a:srgbClr val="595959"/>
                </a:solidFill>
                <a:latin typeface="Calibri"/>
              </a:rPr>
              <a:t>✘  No low-efficiency alerts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27064" y="4105656"/>
            <a:ext cx="5111496" cy="493776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391655" y="4105656"/>
            <a:ext cx="483717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002060"/>
                </a:solidFill>
                <a:latin typeface="Calibri"/>
              </a:rPr>
              <a:t>✔  Automatic alert when efficiency &lt; 60%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1248" y="4690872"/>
            <a:ext cx="5111496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005840" y="4690872"/>
            <a:ext cx="483717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0">
                <a:solidFill>
                  <a:srgbClr val="595959"/>
                </a:solidFill>
                <a:latin typeface="Calibri"/>
              </a:rPr>
              <a:t>✘  Reports prepared manually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27064" y="4690872"/>
            <a:ext cx="5111496" cy="493776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391655" y="4690872"/>
            <a:ext cx="483717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002060"/>
                </a:solidFill>
                <a:latin typeface="Calibri"/>
              </a:rPr>
              <a:t>✔  Daily, monthly, panel-wise, user-wise reports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1248" y="5276088"/>
            <a:ext cx="5111496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005840" y="5276088"/>
            <a:ext cx="483717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0">
                <a:solidFill>
                  <a:srgbClr val="595959"/>
                </a:solidFill>
                <a:latin typeface="Calibri"/>
              </a:rPr>
              <a:t>✘  No DBMS integration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27064" y="5276088"/>
            <a:ext cx="5111496" cy="493776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391655" y="5276088"/>
            <a:ext cx="483717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002060"/>
                </a:solidFill>
                <a:latin typeface="Calibri"/>
              </a:rPr>
              <a:t>✔  Tables, keys, joins, SQL queries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Challenges &amp; Solutions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DBMS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" y="1280160"/>
            <a:ext cx="10497312" cy="658368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960120" y="1417319"/>
            <a:ext cx="384048" cy="38404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280160"/>
            <a:ext cx="35661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1">
                <a:solidFill>
                  <a:srgbClr val="002060"/>
                </a:solidFill>
                <a:latin typeface="Calibri"/>
              </a:rPr>
              <a:t>Frontend–backend connection</a:t>
            </a:r>
          </a:p>
        </p:txBody>
      </p:sp>
      <p:pic>
        <p:nvPicPr>
          <p:cNvPr id="11" name="Picture 10" descr="FaArrowRight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499616"/>
            <a:ext cx="219456" cy="2194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40680" y="1280160"/>
            <a:ext cx="57607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API calls from frontend (5500) to FastAPI backend (8000) using common.js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2048255"/>
            <a:ext cx="10497312" cy="658368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960120" y="2185415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048255"/>
            <a:ext cx="35661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1">
                <a:solidFill>
                  <a:srgbClr val="002060"/>
                </a:solidFill>
                <a:latin typeface="Calibri"/>
              </a:rPr>
              <a:t>Database integration</a:t>
            </a:r>
          </a:p>
        </p:txBody>
      </p:sp>
      <p:pic>
        <p:nvPicPr>
          <p:cNvPr id="16" name="Picture 15" descr="FaArrowRight_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2267711"/>
            <a:ext cx="219456" cy="21945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40680" y="2048255"/>
            <a:ext cx="57607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SQLite tables with keys and relationships (schema.sql)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2816352"/>
            <a:ext cx="10497312" cy="658368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960120" y="2953512"/>
            <a:ext cx="384048" cy="38404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2816352"/>
            <a:ext cx="35661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1">
                <a:solidFill>
                  <a:srgbClr val="002060"/>
                </a:solidFill>
                <a:latin typeface="Calibri"/>
              </a:rPr>
              <a:t>Input validation</a:t>
            </a:r>
          </a:p>
        </p:txBody>
      </p:sp>
      <p:pic>
        <p:nvPicPr>
          <p:cNvPr id="21" name="Picture 20" descr="FaArrowRight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3035808"/>
            <a:ext cx="219456" cy="21945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440680" y="2816352"/>
            <a:ext cx="57607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Pydantic models in models.py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" y="3584448"/>
            <a:ext cx="10497312" cy="658368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60120" y="3721608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3584448"/>
            <a:ext cx="35661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1">
                <a:solidFill>
                  <a:srgbClr val="002060"/>
                </a:solidFill>
                <a:latin typeface="Calibri"/>
              </a:rPr>
              <a:t>Formula validation</a:t>
            </a:r>
          </a:p>
        </p:txBody>
      </p:sp>
      <p:pic>
        <p:nvPicPr>
          <p:cNvPr id="26" name="Picture 25" descr="FaArrowRight_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3803904"/>
            <a:ext cx="219456" cy="21945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440680" y="3584448"/>
            <a:ext cx="57607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checked calculations with sample data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248" y="4352544"/>
            <a:ext cx="10497312" cy="658368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960120" y="4489704"/>
            <a:ext cx="384048" cy="38404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4352544"/>
            <a:ext cx="35661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1">
                <a:solidFill>
                  <a:srgbClr val="002060"/>
                </a:solidFill>
                <a:latin typeface="Calibri"/>
              </a:rPr>
              <a:t>Alert generation</a:t>
            </a:r>
          </a:p>
        </p:txBody>
      </p:sp>
      <p:pic>
        <p:nvPicPr>
          <p:cNvPr id="31" name="Picture 30" descr="FaArrowRight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4572000"/>
            <a:ext cx="219456" cy="21945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440680" y="4352544"/>
            <a:ext cx="57607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rule applied: efficiency below 60%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1248" y="5120640"/>
            <a:ext cx="10497312" cy="658368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960120" y="5257800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08760" y="5120640"/>
            <a:ext cx="35661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1">
                <a:solidFill>
                  <a:srgbClr val="002060"/>
                </a:solidFill>
                <a:latin typeface="Calibri"/>
              </a:rPr>
              <a:t>Report generation</a:t>
            </a:r>
          </a:p>
        </p:txBody>
      </p:sp>
      <p:pic>
        <p:nvPicPr>
          <p:cNvPr id="36" name="Picture 35" descr="FaArrowRight_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5340096"/>
            <a:ext cx="219456" cy="21945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440680" y="5120640"/>
            <a:ext cx="57607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SQL queries with joins, SUM, AVG on stored records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Work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DBMS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" y="1325880"/>
            <a:ext cx="5111496" cy="86868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932688" y="1568195"/>
            <a:ext cx="384048" cy="38404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aWifi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859" y="1660367"/>
            <a:ext cx="199704" cy="1997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53896" y="1325880"/>
            <a:ext cx="4407408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Calibri"/>
              </a:rPr>
              <a:t>IoT Sensors</a:t>
            </a:r>
            <a:r>
              <a:rPr sz="1600" b="0">
                <a:solidFill>
                  <a:srgbClr val="1A1A1A"/>
                </a:solidFill>
                <a:latin typeface="Calibri"/>
              </a:rPr>
              <a:t>  –  automatic real-time readings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377439"/>
            <a:ext cx="5111496" cy="86868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932688" y="2619756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aCloud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859" y="2711927"/>
            <a:ext cx="199704" cy="19970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453896" y="2377439"/>
            <a:ext cx="4407408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Calibri"/>
              </a:rPr>
              <a:t>Cloud Deployment</a:t>
            </a:r>
            <a:r>
              <a:rPr sz="1600" b="0">
                <a:solidFill>
                  <a:srgbClr val="1A1A1A"/>
                </a:solidFill>
                <a:latin typeface="Calibri"/>
              </a:rPr>
              <a:t>  –  online access using Docker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3429000"/>
            <a:ext cx="5111496" cy="86868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932688" y="3671315"/>
            <a:ext cx="384048" cy="38404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FaMobileAl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859" y="3763487"/>
            <a:ext cx="199704" cy="19970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453896" y="3429000"/>
            <a:ext cx="4407408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Calibri"/>
              </a:rPr>
              <a:t>Mobile App</a:t>
            </a:r>
            <a:r>
              <a:rPr sz="1600" b="0">
                <a:solidFill>
                  <a:srgbClr val="1A1A1A"/>
                </a:solidFill>
                <a:latin typeface="Calibri"/>
              </a:rPr>
              <a:t>  –  mobile application support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4480559"/>
            <a:ext cx="5111496" cy="86868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932688" y="4722875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FaBrain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859" y="4815047"/>
            <a:ext cx="199704" cy="19970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453896" y="4480559"/>
            <a:ext cx="4407408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Calibri"/>
              </a:rPr>
              <a:t>Advanced Analytics</a:t>
            </a:r>
            <a:r>
              <a:rPr sz="1600" b="0">
                <a:solidFill>
                  <a:srgbClr val="1A1A1A"/>
                </a:solidFill>
                <a:latin typeface="Calibri"/>
              </a:rPr>
              <a:t>  –  energy prediction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27064" y="1325880"/>
            <a:ext cx="5111496" cy="86868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6318503" y="1568195"/>
            <a:ext cx="384048" cy="38404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aEnvelope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0675" y="1660367"/>
            <a:ext cx="199704" cy="19970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839712" y="1325880"/>
            <a:ext cx="4407408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Calibri"/>
              </a:rPr>
              <a:t>Email / SMS Alerts</a:t>
            </a:r>
            <a:r>
              <a:rPr sz="1600" b="0">
                <a:solidFill>
                  <a:srgbClr val="1A1A1A"/>
                </a:solidFill>
                <a:latin typeface="Calibri"/>
              </a:rPr>
              <a:t>  –  instant alert notifications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7064" y="2377439"/>
            <a:ext cx="5111496" cy="86868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6318503" y="2619756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FaUserShield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0675" y="2711927"/>
            <a:ext cx="199704" cy="19970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839712" y="2377439"/>
            <a:ext cx="4407408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Calibri"/>
              </a:rPr>
              <a:t>Role-Based Login</a:t>
            </a:r>
            <a:r>
              <a:rPr sz="1600" b="0">
                <a:solidFill>
                  <a:srgbClr val="1A1A1A"/>
                </a:solidFill>
                <a:latin typeface="Calibri"/>
              </a:rPr>
              <a:t>  –  separate admin and user access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27064" y="3429000"/>
            <a:ext cx="5111496" cy="86868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6318503" y="3671315"/>
            <a:ext cx="384048" cy="38404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FaFileExport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10675" y="3763487"/>
            <a:ext cx="199704" cy="19970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839712" y="3429000"/>
            <a:ext cx="4407408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Calibri"/>
              </a:rPr>
              <a:t>PDF Export</a:t>
            </a:r>
            <a:r>
              <a:rPr sz="1600" b="0">
                <a:solidFill>
                  <a:srgbClr val="1A1A1A"/>
                </a:solidFill>
                <a:latin typeface="Calibri"/>
              </a:rPr>
              <a:t>  –  download reports as PDF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 Mapping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DBMS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" y="1280160"/>
            <a:ext cx="10497312" cy="658368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932688" y="1417319"/>
            <a:ext cx="384048" cy="38404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aTabl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859" y="1509491"/>
            <a:ext cx="199704" cy="1997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53896" y="1280160"/>
            <a:ext cx="9793224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002060"/>
                </a:solidFill>
                <a:latin typeface="Calibri"/>
              </a:rPr>
              <a:t>CO1</a:t>
            </a:r>
            <a:r>
              <a:rPr sz="1650" b="0">
                <a:solidFill>
                  <a:srgbClr val="1A1A1A"/>
                </a:solidFill>
                <a:latin typeface="Calibri"/>
              </a:rPr>
              <a:t>  –  tables, schema, SQL queries, joins, reports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048255"/>
            <a:ext cx="10497312" cy="658368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932688" y="2185415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aDatabas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859" y="2277587"/>
            <a:ext cx="199704" cy="19970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453896" y="2048255"/>
            <a:ext cx="9793224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002060"/>
                </a:solidFill>
                <a:latin typeface="Calibri"/>
              </a:rPr>
              <a:t>CO2</a:t>
            </a:r>
            <a:r>
              <a:rPr sz="1650" b="0">
                <a:solidFill>
                  <a:srgbClr val="1A1A1A"/>
                </a:solidFill>
                <a:latin typeface="Calibri"/>
              </a:rPr>
              <a:t>  –  SQL chosen because solar data is structured (fixed fields and related tables)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2816352"/>
            <a:ext cx="10497312" cy="658368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932688" y="2953512"/>
            <a:ext cx="384048" cy="38404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FaServer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859" y="3045683"/>
            <a:ext cx="199704" cy="19970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453896" y="2816352"/>
            <a:ext cx="9793224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002060"/>
                </a:solidFill>
                <a:latin typeface="Calibri"/>
              </a:rPr>
              <a:t>CO3</a:t>
            </a:r>
            <a:r>
              <a:rPr sz="1650" b="0">
                <a:solidFill>
                  <a:srgbClr val="1A1A1A"/>
                </a:solidFill>
                <a:latin typeface="Calibri"/>
              </a:rPr>
              <a:t>  –  FastAPI REST APIs, validation (Pydantic), Swagger docs at /docs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3584448"/>
            <a:ext cx="10497312" cy="658368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932688" y="3721608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FaCogs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859" y="3813779"/>
            <a:ext cx="199704" cy="19970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453896" y="3584448"/>
            <a:ext cx="9793224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002060"/>
                </a:solidFill>
                <a:latin typeface="Calibri"/>
              </a:rPr>
              <a:t>CO4</a:t>
            </a:r>
            <a:r>
              <a:rPr sz="1650" b="0">
                <a:solidFill>
                  <a:srgbClr val="1A1A1A"/>
                </a:solidFill>
                <a:latin typeface="Calibri"/>
              </a:rPr>
              <a:t>  –  backend modules: users, panels, readings, alerts, reports, maintenance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4352544"/>
            <a:ext cx="10497312" cy="658368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932688" y="4489704"/>
            <a:ext cx="384048" cy="38404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aSitemap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4859" y="4581875"/>
            <a:ext cx="199704" cy="19970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453896" y="4352544"/>
            <a:ext cx="9793224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002060"/>
                </a:solidFill>
                <a:latin typeface="Calibri"/>
              </a:rPr>
              <a:t>CO5</a:t>
            </a:r>
            <a:r>
              <a:rPr sz="1650" b="0">
                <a:solidFill>
                  <a:srgbClr val="1A1A1A"/>
                </a:solidFill>
                <a:latin typeface="Calibri"/>
              </a:rPr>
              <a:t>  –  architecture can be divided into services: User, Energy, Report, Alert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248" y="5120640"/>
            <a:ext cx="10497312" cy="658368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932688" y="5257800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FaLayerGroup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859" y="5349971"/>
            <a:ext cx="199704" cy="19970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453896" y="5120640"/>
            <a:ext cx="9793224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002060"/>
                </a:solidFill>
                <a:latin typeface="Calibri"/>
              </a:rPr>
              <a:t>CO6</a:t>
            </a:r>
            <a:r>
              <a:rPr sz="1650" b="0">
                <a:solidFill>
                  <a:srgbClr val="1A1A1A"/>
                </a:solidFill>
                <a:latin typeface="Calibri"/>
              </a:rPr>
              <a:t>  –  full-stack integration: frontend (5500), backend (8000), SQLite database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DBMS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" y="1280160"/>
            <a:ext cx="10497312" cy="566928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FaCheck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1444751"/>
            <a:ext cx="237744" cy="2377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44168" y="1280160"/>
            <a:ext cx="990295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1">
                <a:solidFill>
                  <a:srgbClr val="002060"/>
                </a:solidFill>
                <a:latin typeface="Calibri"/>
              </a:rPr>
              <a:t>Solar Energy Management and Monitoring System is a DBMS-based full-stack web application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1929384"/>
            <a:ext cx="10497312" cy="566928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FaCheck_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2093976"/>
            <a:ext cx="237744" cy="2377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44168" y="1929384"/>
            <a:ext cx="990295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1">
                <a:solidFill>
                  <a:srgbClr val="002060"/>
                </a:solidFill>
                <a:latin typeface="Calibri"/>
              </a:rPr>
              <a:t>Frontend: HTML, CSS, JavaScript  ·  Backend: FastAPI  ·  Database: SQLite (backend/solar.db)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2578608"/>
            <a:ext cx="10497312" cy="566928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FaCheck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2743200"/>
            <a:ext cx="237744" cy="23774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44168" y="2578608"/>
            <a:ext cx="990295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1">
                <a:solidFill>
                  <a:srgbClr val="002060"/>
                </a:solidFill>
                <a:latin typeface="Calibri"/>
              </a:rPr>
              <a:t>Stores solar panel details and daily energy readings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" y="3227832"/>
            <a:ext cx="10497312" cy="566928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FaCheck_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3392424"/>
            <a:ext cx="237744" cy="23774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344168" y="3227832"/>
            <a:ext cx="990295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1">
                <a:solidFill>
                  <a:srgbClr val="002060"/>
                </a:solidFill>
                <a:latin typeface="Calibri"/>
              </a:rPr>
              <a:t>Calculates energy balance, expected energy, efficiency, and savings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3877056"/>
            <a:ext cx="10497312" cy="566928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Picture 20" descr="FaCheck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4041648"/>
            <a:ext cx="237744" cy="23774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344168" y="3877056"/>
            <a:ext cx="990295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1">
                <a:solidFill>
                  <a:srgbClr val="002060"/>
                </a:solidFill>
                <a:latin typeface="Calibri"/>
              </a:rPr>
              <a:t>Creates a low-efficiency alert when efficiency is below 60%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" y="4526279"/>
            <a:ext cx="10497312" cy="566928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FaCheck_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4690871"/>
            <a:ext cx="237744" cy="23774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344168" y="4526279"/>
            <a:ext cx="990295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1">
                <a:solidFill>
                  <a:srgbClr val="002060"/>
                </a:solidFill>
                <a:latin typeface="Calibri"/>
              </a:rPr>
              <a:t>Dashboard and reports use SQL queries, joins, and aggregate functions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1248" y="5175504"/>
            <a:ext cx="10497312" cy="566928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Picture 26" descr="FaCheck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5340096"/>
            <a:ext cx="237744" cy="23774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344168" y="5175504"/>
            <a:ext cx="990295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1">
                <a:solidFill>
                  <a:srgbClr val="002060"/>
                </a:solidFill>
                <a:latin typeface="Calibri"/>
              </a:rPr>
              <a:t>Covers database design, SQL operations, backend APIs, frontend integration, reports, and alerts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DBMS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" y="1280160"/>
            <a:ext cx="10497312" cy="658368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87552" y="1280160"/>
            <a:ext cx="5486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[1]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280160"/>
            <a:ext cx="96469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S. R. Madeti, S. N. Singh, “Monitoring system for photovoltaic plants: A review,” Renewable and Sustainable Energy Reviews, vol. 67, 2017.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048255"/>
            <a:ext cx="10497312" cy="658368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87552" y="2048255"/>
            <a:ext cx="5486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2E7D32"/>
                </a:solidFill>
                <a:latin typeface="Calibri"/>
              </a:rPr>
              <a:t>[2]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048255"/>
            <a:ext cx="96469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A. S. Spanias, “Solar energy management as an Internet of Things (IoT) application,” IEEE IISA Conference, 2017.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2816352"/>
            <a:ext cx="10497312" cy="658368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87552" y="2816352"/>
            <a:ext cx="5486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[3]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816352"/>
            <a:ext cx="96469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M. Beaudin, H. Zareipour, “Home energy management systems: A review of modelling and complexity,” Renewable and Sustainable Energy Reviews, vol. 45, 2015.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" y="3584448"/>
            <a:ext cx="10497312" cy="658368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87552" y="3584448"/>
            <a:ext cx="5486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2E7D32"/>
                </a:solidFill>
                <a:latin typeface="Calibri"/>
              </a:rPr>
              <a:t>[4]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584448"/>
            <a:ext cx="96469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A. Silberschatz, H. F. Korth, S. Sudarshan, Database System Concepts, 7th ed., McGraw-Hill, 2019.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4352544"/>
            <a:ext cx="10497312" cy="658368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87552" y="4352544"/>
            <a:ext cx="5486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[5]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352544"/>
            <a:ext cx="96469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SQLite Documentation – sqlite.org/docs.html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" y="5120640"/>
            <a:ext cx="10497312" cy="658368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87552" y="5120640"/>
            <a:ext cx="5486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2E7D32"/>
                </a:solidFill>
                <a:latin typeface="Calibri"/>
              </a:rPr>
              <a:t>[6]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5120640"/>
            <a:ext cx="96469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FastAPI Documentation – fastapi.tiangolo.com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2026-09-02T06:07:17Z</dcterms:created>
  <dcterms:modified xsi:type="dcterms:W3CDTF">2026-09-02T06:07:17Z</dcterms:modified>
</cp:coreProperties>
</file>